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15"/>
  </p:notesMasterIdLst>
  <p:sldIdLst>
    <p:sldId id="256" r:id="rId4"/>
    <p:sldId id="317" r:id="rId5"/>
    <p:sldId id="319" r:id="rId6"/>
    <p:sldId id="350" r:id="rId7"/>
    <p:sldId id="336" r:id="rId8"/>
    <p:sldId id="329" r:id="rId9"/>
    <p:sldId id="348" r:id="rId10"/>
    <p:sldId id="351" r:id="rId11"/>
    <p:sldId id="349" r:id="rId12"/>
    <p:sldId id="345" r:id="rId13"/>
    <p:sldId id="32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8942D-2352-486A-8F5C-39ADC51D61C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F2B1B-F08A-4EB9-995F-EF6BCAA6B8B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6A6B11-0756-48F4-B7EF-DAA96F5C6FE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86C783-A048-4A59-9634-AE13E8F1E8E6}" type="slidenum">
              <a:rPr lang="en-GB" smtClean="0"/>
            </a:fld>
            <a:endParaRPr lang="en-GB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6A6B11-0756-48F4-B7EF-DAA96F5C6FED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86C783-A048-4A59-9634-AE13E8F1E8E6}" type="slidenum">
              <a:rPr lang="en-GB" smtClean="0"/>
            </a:fld>
            <a:endParaRPr lang="en-GB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6A6B11-0756-48F4-B7EF-DAA96F5C6FED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86C783-A048-4A59-9634-AE13E8F1E8E6}" type="slidenum">
              <a:rPr lang="en-GB" smtClean="0"/>
            </a:fld>
            <a:endParaRPr lang="en-GB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6A6B11-0756-48F4-B7EF-DAA96F5C6FED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86C783-A048-4A59-9634-AE13E8F1E8E6}" type="slidenum">
              <a:rPr lang="en-GB" smtClean="0"/>
            </a:fld>
            <a:endParaRPr lang="en-GB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2_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1D9FC-7584-4281-9475-A493FDF6DCB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wipe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75E89-B17C-4EEA-8521-AAF1ECCF6FC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04486-E0CF-4278-A637-B1D6D6E3251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1D9FC-7584-4281-9475-A493FDF6DCB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ECEE3-017D-4AB2-AD4F-43C56E6F82A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9A9BB-4990-4E35-8323-BEB709A6D08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75E89-B17C-4EEA-8521-AAF1ECCF6FC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86915-CF4C-4AF6-90B8-136C73B17C1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2A083-5BBB-49EF-956B-8423FEDD3AB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F9E4D-C3C4-45E4-9CF2-22F60941D64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x-non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3931D-B344-4B27-B910-4F3E00B1AD1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17F6E-7EB1-4946-8826-9D3EA64284B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7259E-3F29-45EE-A1B8-479D4F52C42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332990D-016A-429A-8389-3B6C1DE628FF}" type="slidenum">
              <a:rPr lang="en-US" altLang="en-US"/>
            </a:fld>
            <a:endParaRPr lang="en-US" altLang="en-US"/>
          </a:p>
        </p:txBody>
      </p:sp>
      <p:pic>
        <p:nvPicPr>
          <p:cNvPr id="1031" name="Picture 6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6988"/>
            <a:ext cx="12192000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5146" y="1117602"/>
            <a:ext cx="10515600" cy="3583708"/>
          </a:xfrm>
        </p:spPr>
        <p:txBody>
          <a:bodyPr/>
          <a:lstStyle/>
          <a:p>
            <a:endParaRPr lang="en-US" dirty="0"/>
          </a:p>
          <a:p>
            <a:pPr marL="50800" indent="0">
              <a:buNone/>
            </a:pPr>
            <a:endParaRPr lang="en-US" sz="4800" dirty="0"/>
          </a:p>
        </p:txBody>
      </p:sp>
      <p:sp>
        <p:nvSpPr>
          <p:cNvPr id="2" name="Rectangle 1"/>
          <p:cNvSpPr/>
          <p:nvPr/>
        </p:nvSpPr>
        <p:spPr>
          <a:xfrm>
            <a:off x="1013552" y="1588997"/>
            <a:ext cx="91550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RETOOLING OF SENIOR SCHOOL TEACHERS ON COMPETENCY BASED EDUCATION (CBE) AND COMPETENCY BASED ASSESSMENT (CBA)</a:t>
            </a:r>
            <a:endParaRPr lang="en-US" sz="2800" b="1" dirty="0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b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4400" b="1" dirty="0">
                <a:solidFill>
                  <a:srgbClr val="C00000"/>
                </a:solidFill>
                <a:latin typeface="Agency FB" panose="020B0503020202020204" pitchFamily="34" charset="0"/>
              </a:rPr>
              <a:t>Community Service Learning </a:t>
            </a:r>
            <a:endParaRPr lang="en-US" sz="4400" b="1" dirty="0">
              <a:solidFill>
                <a:srgbClr val="C00000"/>
              </a:solidFill>
              <a:latin typeface="Agency FB" panose="020B0503020202020204" pitchFamily="34" charset="0"/>
            </a:endParaRPr>
          </a:p>
          <a:p>
            <a:pPr algn="ctr"/>
            <a:endParaRPr lang="en-US" sz="4000" b="1" dirty="0">
              <a:solidFill>
                <a:srgbClr val="00B050"/>
              </a:solidFill>
              <a:latin typeface="Agency FB" panose="020B0503020202020204" pitchFamily="34" charset="0"/>
            </a:endParaRPr>
          </a:p>
          <a:p>
            <a:pPr algn="ctr"/>
            <a:r>
              <a:rPr lang="en-US" sz="4000" b="1" dirty="0">
                <a:solidFill>
                  <a:schemeClr val="tx1"/>
                </a:solidFill>
                <a:latin typeface="Agency FB" panose="020B0503020202020204" pitchFamily="34" charset="0"/>
              </a:rPr>
              <a:t>August,2025</a:t>
            </a:r>
            <a:endParaRPr lang="en-US" sz="4000" b="1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44488" y="1457325"/>
            <a:ext cx="227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2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charset="0"/>
              </a:rPr>
              <a:t>.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344488" y="395288"/>
            <a:ext cx="8909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ESSENCE STATEMENT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490538" y="0"/>
            <a:ext cx="11753850" cy="717119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GB" altLang="en-US" sz="27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GB" altLang="en-US" sz="2700" dirty="0"/>
              <a:t>                             </a:t>
            </a:r>
            <a:endParaRPr lang="en-GB" altLang="en-US" dirty="0"/>
          </a:p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GB" altLang="en-US" dirty="0">
                <a:latin typeface="+mn-lt"/>
              </a:rPr>
              <a:t>It is globally and increasingly acknowledged that involving learners in </a:t>
            </a:r>
            <a:r>
              <a:rPr lang="en-GB" altLang="en-US" b="1" dirty="0">
                <a:latin typeface="+mn-lt"/>
              </a:rPr>
              <a:t>community service </a:t>
            </a:r>
            <a:r>
              <a:rPr lang="en-GB" altLang="en-US" dirty="0">
                <a:latin typeface="+mn-lt"/>
              </a:rPr>
              <a:t>has long-lasting impact on themselves and society at large. Community Service Learning (CSL) extends learning beyond the classroom into the community. </a:t>
            </a:r>
            <a:endParaRPr lang="en-GB" altLang="en-US" dirty="0">
              <a:latin typeface="+mn-lt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GB" altLang="en-US" dirty="0">
              <a:latin typeface="+mn-lt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GB" altLang="en-US" dirty="0">
                <a:latin typeface="+mn-lt"/>
              </a:rPr>
              <a:t>Learning happens experientially by integrating formal learning to age-appropriate communal activities/projects. Leaners initiate designing of solutions to issues/challenges in the community.</a:t>
            </a:r>
            <a:endParaRPr lang="en-GB" altLang="en-US" dirty="0">
              <a:latin typeface="+mn-lt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GB" alt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GB" altLang="en-US" dirty="0"/>
              <a:t>CSL enhances holistic development of learners, promotes citizenship, social responsibility and collaboration with different stakeholders in the community for the good of all.  </a:t>
            </a:r>
            <a:endParaRPr lang="en-GB" dirty="0">
              <a:latin typeface="+mn-lt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GB" altLang="en-US" dirty="0">
                <a:latin typeface="+mn-lt"/>
              </a:rPr>
              <a:t> </a:t>
            </a:r>
            <a:endParaRPr lang="en-US" altLang="en-US" dirty="0">
              <a:latin typeface="+mn-lt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GB" altLang="en-US" sz="24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GB" altLang="en-US" sz="18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44488" y="1457325"/>
            <a:ext cx="227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2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charset="0"/>
              </a:rPr>
              <a:t>.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8788" y="522288"/>
            <a:ext cx="11388725" cy="56938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400" b="1" dirty="0"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400" b="1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 dirty="0">
                <a:latin typeface="+mn-lt"/>
                <a:cs typeface="+mn-cs"/>
              </a:rPr>
              <a:t>Activity 1: Group Work</a:t>
            </a:r>
            <a:endParaRPr lang="en-GB" sz="3600" b="1" dirty="0">
              <a:latin typeface="+mn-lt"/>
              <a:cs typeface="+mn-cs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dirty="0">
              <a:latin typeface="+mn-lt"/>
              <a:cs typeface="+mn-cs"/>
            </a:endParaRPr>
          </a:p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GB" sz="3600" dirty="0">
                <a:latin typeface="+mn-lt"/>
                <a:cs typeface="+mn-cs"/>
              </a:rPr>
              <a:t>Based on the CSL essence statement, discuss and suggest what should be incorporated in the general learning outcomes? </a:t>
            </a:r>
            <a:r>
              <a:rPr lang="en-GB" sz="3600" i="1" dirty="0">
                <a:latin typeface="+mn-lt"/>
                <a:cs typeface="+mn-cs"/>
              </a:rPr>
              <a:t>(Suggest 3 key outcomes)</a:t>
            </a:r>
            <a:endParaRPr lang="en-GB" sz="3600" i="1" dirty="0"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3600" i="1" dirty="0">
              <a:latin typeface="+mn-lt"/>
              <a:cs typeface="+mn-cs"/>
            </a:endParaRPr>
          </a:p>
          <a:p>
            <a:pPr marL="514350" indent="-514350">
              <a:buFontTx/>
              <a:buAutoNum type="alphaLcParenR"/>
              <a:defRPr/>
            </a:pPr>
            <a:r>
              <a:rPr lang="en-US" sz="3600" dirty="0">
                <a:ea typeface="MS Mincho" panose="02020609040205080304" pitchFamily="49" charset="-128"/>
                <a:cs typeface="Times New Roman" panose="02020603050405020304" charset="0"/>
              </a:rPr>
              <a:t>Discuss and suggest key principles  that should guide the implementation of CSL</a:t>
            </a:r>
            <a:r>
              <a:rPr lang="en-GB" sz="3600" dirty="0">
                <a:latin typeface="+mn-lt"/>
                <a:cs typeface="+mn-cs"/>
              </a:rPr>
              <a:t>. </a:t>
            </a:r>
            <a:r>
              <a:rPr lang="en-GB" sz="3600" i="1" dirty="0"/>
              <a:t>(Suggest 3 key principles)</a:t>
            </a:r>
            <a:endParaRPr lang="en-GB" sz="3600" i="1" dirty="0"/>
          </a:p>
          <a:p>
            <a:pPr>
              <a:defRPr/>
            </a:pPr>
            <a:endParaRPr lang="en-GB" sz="2800" dirty="0">
              <a:latin typeface="+mn-lt"/>
              <a:cs typeface="+mn-c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44488" y="1457325"/>
            <a:ext cx="227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2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charset="0"/>
              </a:rPr>
              <a:t>.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Box 1"/>
          <p:cNvSpPr txBox="1">
            <a:spLocks noChangeArrowheads="1"/>
          </p:cNvSpPr>
          <p:nvPr/>
        </p:nvSpPr>
        <p:spPr bwMode="auto">
          <a:xfrm>
            <a:off x="344488" y="131763"/>
            <a:ext cx="9115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GENERAL LEARNING OUTCOMES OF CSL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8788" y="522288"/>
            <a:ext cx="11388725" cy="55707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400" b="1" dirty="0"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1" dirty="0">
                <a:latin typeface="+mn-lt"/>
                <a:cs typeface="+mn-cs"/>
              </a:rPr>
              <a:t>By the end of the Middle School level, the learner should be able to:</a:t>
            </a:r>
            <a:endParaRPr lang="en-US" sz="2400" b="1" dirty="0">
              <a:latin typeface="+mn-lt"/>
              <a:cs typeface="+mn-cs"/>
            </a:endParaRPr>
          </a:p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GB" sz="2800" dirty="0">
                <a:latin typeface="+mn-lt"/>
                <a:cs typeface="+mn-cs"/>
              </a:rPr>
              <a:t>Apply knowledge, values and positive attitudes to address needs and challenges in their immediate community. </a:t>
            </a:r>
            <a:endParaRPr lang="en-GB" sz="2800" dirty="0">
              <a:latin typeface="+mn-lt"/>
              <a:cs typeface="+mn-cs"/>
            </a:endParaRPr>
          </a:p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GB" sz="2800" dirty="0">
                <a:latin typeface="+mn-lt"/>
                <a:cs typeface="+mn-cs"/>
              </a:rPr>
              <a:t>Utilise basic research, leadership, communication, financial and entrepreneurship skills to address challenges in their immediate community. </a:t>
            </a:r>
            <a:endParaRPr lang="en-GB" sz="2800" dirty="0">
              <a:latin typeface="+mn-lt"/>
              <a:cs typeface="+mn-cs"/>
            </a:endParaRPr>
          </a:p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GB" sz="2800" dirty="0">
                <a:latin typeface="+mn-lt"/>
                <a:cs typeface="+mn-cs"/>
              </a:rPr>
              <a:t>Participate in relevant projects within the school and the community for mutual benefit and learning. </a:t>
            </a:r>
            <a:endParaRPr lang="en-GB" sz="2800" dirty="0">
              <a:latin typeface="+mn-lt"/>
              <a:cs typeface="+mn-cs"/>
            </a:endParaRPr>
          </a:p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GB" sz="2800" dirty="0">
                <a:latin typeface="+mn-lt"/>
                <a:cs typeface="+mn-cs"/>
              </a:rPr>
              <a:t>Participate in local and national community activities as responsible citizens. </a:t>
            </a:r>
            <a:endParaRPr lang="en-GB" sz="2800" dirty="0">
              <a:latin typeface="+mn-lt"/>
              <a:cs typeface="+mn-cs"/>
            </a:endParaRPr>
          </a:p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GB" sz="2800" dirty="0">
                <a:latin typeface="+mn-lt"/>
                <a:cs typeface="+mn-cs"/>
              </a:rPr>
              <a:t>Embrace moral values and positive attitudes in their day-to-day life. </a:t>
            </a:r>
            <a:endParaRPr lang="en-GB" sz="2800" dirty="0">
              <a:latin typeface="+mn-lt"/>
              <a:cs typeface="+mn-cs"/>
            </a:endParaRPr>
          </a:p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GB" sz="2800" dirty="0">
                <a:latin typeface="+mn-lt"/>
                <a:cs typeface="+mn-cs"/>
              </a:rPr>
              <a:t>Appreciate diversity for harmonious living within the community.</a:t>
            </a:r>
            <a:endParaRPr lang="en-US" sz="2800" dirty="0">
              <a:latin typeface="+mn-lt"/>
              <a:cs typeface="+mn-c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1762"/>
          </a:xfrm>
        </p:spPr>
        <p:txBody>
          <a:bodyPr/>
          <a:lstStyle/>
          <a:p>
            <a:pPr algn="ctr">
              <a:defRPr/>
            </a:pPr>
            <a:r>
              <a:rPr lang="en-GB" sz="3200" b="1" dirty="0">
                <a:latin typeface="+mn-lt"/>
              </a:rPr>
              <a:t>Principles of CSL in Basic Education</a:t>
            </a:r>
            <a:br>
              <a:rPr lang="en-GB" sz="3200" b="1" dirty="0">
                <a:latin typeface="+mn-lt"/>
              </a:rPr>
            </a:br>
            <a:br>
              <a:rPr lang="en-GB" sz="3200" b="1" dirty="0">
                <a:latin typeface="+mn-lt"/>
              </a:rPr>
            </a:br>
            <a:br>
              <a:rPr lang="en-GB" sz="3200" b="1" dirty="0">
                <a:latin typeface="+mn-lt"/>
              </a:rPr>
            </a:br>
            <a:br>
              <a:rPr lang="en-GB" sz="3200" b="1" dirty="0">
                <a:latin typeface="+mn-lt"/>
              </a:rPr>
            </a:br>
            <a:br>
              <a:rPr lang="en-GB" sz="3200" b="1" dirty="0">
                <a:latin typeface="+mn-lt"/>
              </a:rPr>
            </a:br>
            <a:r>
              <a:rPr lang="en-US" sz="1800" dirty="0">
                <a:latin typeface="Times New Roman" panose="02020603050405020304" charset="0"/>
                <a:ea typeface="MS Mincho" panose="02020609040205080304" pitchFamily="49" charset="-128"/>
                <a:cs typeface="Times New Roman" panose="02020603050405020304" charset="0"/>
              </a:rPr>
              <a:t>.</a:t>
            </a:r>
            <a:b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charset="0"/>
              </a:rPr>
            </a:br>
            <a:br>
              <a:rPr lang="en-GB" sz="3200" b="1" dirty="0">
                <a:latin typeface="+mn-lt"/>
              </a:rPr>
            </a:br>
            <a:br>
              <a:rPr lang="en-GB" sz="3200" b="1" dirty="0">
                <a:latin typeface="+mn-lt"/>
              </a:rPr>
            </a:br>
            <a:br>
              <a:rPr lang="en-GB" sz="3200" b="1" dirty="0">
                <a:latin typeface="+mn-lt"/>
              </a:rPr>
            </a:br>
            <a:r>
              <a:rPr lang="en-GB" sz="3200" b="1" dirty="0">
                <a:latin typeface="+mn-lt"/>
              </a:rPr>
              <a:t> </a:t>
            </a:r>
            <a:br>
              <a:rPr lang="en-GB" sz="3200" b="1" dirty="0">
                <a:latin typeface="+mn-lt"/>
              </a:rPr>
            </a:br>
            <a:endParaRPr lang="en-US" sz="20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848412"/>
            <a:ext cx="10974388" cy="515118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3200" dirty="0">
                <a:ea typeface="MS Mincho" panose="02020609040205080304" pitchFamily="49" charset="-128"/>
                <a:cs typeface="Times New Roman" panose="02020603050405020304" charset="0"/>
              </a:rPr>
              <a:t>The key principles  that will guide the implementation of CSL at Senior School include:</a:t>
            </a:r>
            <a:endParaRPr lang="en-US" sz="3200" dirty="0">
              <a:ea typeface="MS Mincho" panose="02020609040205080304" pitchFamily="49" charset="-128"/>
              <a:cs typeface="Times New Roman" panose="02020603050405020304" charset="0"/>
            </a:endParaRPr>
          </a:p>
          <a:p>
            <a:pPr marL="1485900" indent="-1485900">
              <a:buFont typeface="Arial" panose="020B0604020202020204" pitchFamily="34" charset="0"/>
              <a:buNone/>
              <a:defRPr/>
            </a:pPr>
            <a:r>
              <a:rPr lang="en-GB" sz="3200" dirty="0"/>
              <a:t>1. Collaboration- </a:t>
            </a:r>
            <a:r>
              <a:rPr lang="en-GB" sz="3200" i="1" dirty="0"/>
              <a:t>variety of stakeholders' engagements, inclusivity, whole school approach</a:t>
            </a:r>
            <a:endParaRPr lang="en-GB" sz="3200" i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3200" dirty="0"/>
              <a:t>2. Social Responsibility- </a:t>
            </a:r>
            <a:r>
              <a:rPr lang="en-US" sz="3200" i="1" dirty="0"/>
              <a:t>being counted in the society.</a:t>
            </a:r>
            <a:endParaRPr lang="en-US" sz="3200" i="1" dirty="0"/>
          </a:p>
          <a:p>
            <a:pPr marL="1524000" indent="-1524000">
              <a:buFont typeface="Arial" panose="020B0604020202020204" pitchFamily="34" charset="0"/>
              <a:buNone/>
              <a:defRPr/>
            </a:pPr>
            <a:r>
              <a:rPr lang="en-US" sz="3200" dirty="0"/>
              <a:t>3. Reflection- </a:t>
            </a:r>
            <a:r>
              <a:rPr lang="en-US" sz="3200" i="1" dirty="0"/>
              <a:t>the use of ‘action research’ model- plan, act, observe and reflect.</a:t>
            </a:r>
            <a:endParaRPr lang="en-US" sz="3200" i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3200" dirty="0"/>
              <a:t>4. Community-centeredness- </a:t>
            </a:r>
            <a:r>
              <a:rPr lang="en-US" sz="3200" i="1" dirty="0"/>
              <a:t>focus on local community issues</a:t>
            </a:r>
            <a:endParaRPr lang="en-US" sz="3200" i="1" dirty="0"/>
          </a:p>
          <a:p>
            <a:pPr marL="0" indent="0">
              <a:buNone/>
              <a:defRPr/>
            </a:pPr>
            <a:r>
              <a:rPr lang="en-US" sz="3200" dirty="0"/>
              <a:t>5. Reciprocity- </a:t>
            </a:r>
            <a:r>
              <a:rPr lang="en-US" sz="3200" i="1" dirty="0"/>
              <a:t>simultaneous benefits to leaners &amp; community</a:t>
            </a:r>
            <a:endParaRPr lang="en-US" sz="3200" i="1" dirty="0"/>
          </a:p>
          <a:p>
            <a:pPr marL="1428750" indent="-1428750">
              <a:buFont typeface="Arial" panose="020B0604020202020204" pitchFamily="34" charset="0"/>
              <a:buNone/>
              <a:defRPr/>
            </a:pPr>
            <a:r>
              <a:rPr lang="en-US" sz="3200" dirty="0"/>
              <a:t>6. Learning orientation- </a:t>
            </a:r>
            <a:r>
              <a:rPr lang="en-US" sz="3200" i="1" dirty="0"/>
              <a:t>done within the confines of curriculum experiences, uses age-appropriate activities</a:t>
            </a:r>
            <a:endParaRPr lang="en-US" sz="3200" i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sz="3200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    </a:t>
            </a:r>
            <a:br>
              <a:rPr lang="en-GB" sz="3200" b="1" dirty="0"/>
            </a:br>
            <a:r>
              <a:rPr lang="en-GB" sz="3200" b="1" dirty="0"/>
              <a:t>          IMPLEMENTATION OF CSL</a:t>
            </a:r>
            <a:br>
              <a:rPr lang="en-GB" sz="3200" b="1" dirty="0"/>
            </a:br>
            <a:br>
              <a:rPr lang="en-GB" altLang="en-US" sz="3200" b="1" dirty="0">
                <a:latin typeface="Times New Roman" panose="02020603050405020304" charset="0"/>
                <a:ea typeface="Segoe UI Emoji" panose="020B0502040204020203" pitchFamily="34" charset="0"/>
                <a:cs typeface="Times New Roman" panose="02020603050405020304" charset="0"/>
              </a:rPr>
            </a:br>
            <a:endParaRPr lang="en-US" altLang="en-US" sz="3200" b="1" dirty="0">
              <a:latin typeface="Times New Roman" panose="02020603050405020304" charset="0"/>
              <a:ea typeface="Segoe UI Emoji" panose="020B0502040204020203" pitchFamily="3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202" y="1082932"/>
            <a:ext cx="11154048" cy="4692136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3200" b="1" dirty="0"/>
              <a:t>Key milestones for assessing a CSL project include:</a:t>
            </a:r>
            <a:endParaRPr lang="en-US" sz="3200" b="1" dirty="0"/>
          </a:p>
          <a:p>
            <a:pPr marL="895350" indent="-895350">
              <a:buFont typeface="+mj-lt"/>
              <a:buAutoNum type="arabicParenR"/>
              <a:defRPr/>
            </a:pPr>
            <a:r>
              <a:rPr lang="en-US" sz="3200" dirty="0"/>
              <a:t>Identification of an issue/problem/gap in the     community backed by collected evidence. </a:t>
            </a:r>
            <a:r>
              <a:rPr lang="en-US" sz="2400" i="1" dirty="0"/>
              <a:t>(problem statement)</a:t>
            </a:r>
            <a:endParaRPr lang="en-US" sz="2400" i="1" dirty="0"/>
          </a:p>
          <a:p>
            <a:pPr marL="895350" indent="-895350">
              <a:buFont typeface="+mj-lt"/>
              <a:buAutoNum type="arabicParenR"/>
              <a:defRPr/>
            </a:pPr>
            <a:endParaRPr lang="en-US" sz="2400" i="1" dirty="0"/>
          </a:p>
          <a:p>
            <a:pPr marL="895350" indent="-895350">
              <a:buFont typeface="+mj-lt"/>
              <a:buAutoNum type="arabicParenR"/>
              <a:defRPr/>
            </a:pPr>
            <a:r>
              <a:rPr lang="en-US" sz="3200" dirty="0"/>
              <a:t>Designing authentic solutions to address the identified problem.</a:t>
            </a:r>
            <a:r>
              <a:rPr lang="en-US" sz="3200" i="1" dirty="0"/>
              <a:t> </a:t>
            </a:r>
            <a:r>
              <a:rPr lang="en-US" sz="2400" i="1" dirty="0"/>
              <a:t>(solution statement)</a:t>
            </a:r>
            <a:endParaRPr lang="en-US" sz="2400" i="1" dirty="0"/>
          </a:p>
          <a:p>
            <a:pPr marL="895350" indent="-895350">
              <a:buFont typeface="+mj-lt"/>
              <a:buAutoNum type="arabicParenR"/>
              <a:defRPr/>
            </a:pPr>
            <a:endParaRPr lang="en-US" sz="2400" i="1" dirty="0"/>
          </a:p>
          <a:p>
            <a:pPr marL="895350" indent="-895350">
              <a:buFont typeface="+mj-lt"/>
              <a:buAutoNum type="arabicParenR"/>
              <a:defRPr/>
            </a:pPr>
            <a:r>
              <a:rPr lang="en-US" sz="3200" dirty="0"/>
              <a:t>Drawing a plan for the implementation of the designed solution in the community.</a:t>
            </a:r>
            <a:r>
              <a:rPr lang="en-US" sz="2400" i="1" dirty="0"/>
              <a:t> (plan/implementation matrix)</a:t>
            </a:r>
            <a:endParaRPr lang="en-US" sz="2400" i="1" dirty="0"/>
          </a:p>
          <a:p>
            <a:pPr marL="1343025" indent="-1343025">
              <a:buNone/>
              <a:defRPr/>
            </a:pPr>
            <a:endParaRPr lang="en-US" sz="32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trike="sngStrike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sz="4000" b="1" dirty="0"/>
              <a:t>           CONTINUED….</a:t>
            </a:r>
            <a:endParaRPr lang="en-GB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5375" y="1457326"/>
            <a:ext cx="9953625" cy="4267200"/>
          </a:xfrm>
        </p:spPr>
        <p:txBody>
          <a:bodyPr/>
          <a:lstStyle/>
          <a:p>
            <a:pPr marL="990600" indent="-990600">
              <a:buNone/>
              <a:defRPr/>
            </a:pPr>
            <a:r>
              <a:rPr lang="en-US" sz="3200" dirty="0"/>
              <a:t>     4) Implementing the solution(s)- execute safely, prudently and in accordance with the validated plan. </a:t>
            </a:r>
            <a:r>
              <a:rPr lang="en-US" sz="2400" i="1" dirty="0"/>
              <a:t>(filled remarks on implementation matrix, and evidences)</a:t>
            </a:r>
            <a:endParaRPr lang="en-US" sz="2400" i="1" dirty="0"/>
          </a:p>
          <a:p>
            <a:pPr marL="990600" indent="-990600">
              <a:buNone/>
              <a:defRPr/>
            </a:pPr>
            <a:endParaRPr lang="en-US" sz="2400" i="1" dirty="0"/>
          </a:p>
          <a:p>
            <a:pPr marL="990600" indent="-990600">
              <a:buNone/>
              <a:defRPr/>
            </a:pPr>
            <a:r>
              <a:rPr lang="en-US" sz="3200" dirty="0"/>
              <a:t>     5) Collecting, reporting and showcasing the outcomes and experiences of the completed project. </a:t>
            </a:r>
            <a:r>
              <a:rPr lang="en-US" sz="2400" i="1" dirty="0"/>
              <a:t>(filled report template)</a:t>
            </a:r>
            <a:endParaRPr lang="en-US" sz="2400" i="1" dirty="0"/>
          </a:p>
          <a:p>
            <a:pPr marL="990600" indent="-990600">
              <a:buNone/>
              <a:defRPr/>
            </a:pPr>
            <a:endParaRPr lang="en-US" sz="2400" i="1" dirty="0"/>
          </a:p>
          <a:p>
            <a:pPr marL="0" indent="0">
              <a:buNone/>
              <a:defRPr/>
            </a:pPr>
            <a:r>
              <a:rPr lang="en-US" sz="3200" dirty="0"/>
              <a:t>      6) Reflecting and own applications. </a:t>
            </a:r>
            <a:r>
              <a:rPr lang="en-US" sz="2400" i="1" dirty="0"/>
              <a:t>(individual journals)</a:t>
            </a:r>
            <a:endParaRPr lang="en-US" sz="2400" i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44488" y="1457325"/>
            <a:ext cx="227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2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charset="0"/>
              </a:rPr>
              <a:t>.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8788" y="522288"/>
            <a:ext cx="11388725" cy="501675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400" b="1" dirty="0"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400" b="1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 dirty="0">
                <a:latin typeface="+mn-lt"/>
                <a:cs typeface="+mn-cs"/>
              </a:rPr>
              <a:t>Activity 2: Group Work</a:t>
            </a:r>
            <a:endParaRPr lang="en-GB" sz="3600" b="1" dirty="0">
              <a:latin typeface="+mn-lt"/>
              <a:cs typeface="+mn-cs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dirty="0"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dirty="0">
                <a:latin typeface="+mn-lt"/>
                <a:cs typeface="+mn-cs"/>
              </a:rPr>
              <a:t>Imagine you’re Grade 10 students, brainstorm and produce a CSL project. Assuming its successfully completed, prepare a presentation </a:t>
            </a:r>
            <a:r>
              <a:rPr lang="en-GB" sz="3600" dirty="0"/>
              <a:t>based on the CSL milestones?</a:t>
            </a:r>
            <a:r>
              <a:rPr lang="en-GB" sz="3600" dirty="0">
                <a:latin typeface="+mn-lt"/>
                <a:cs typeface="+mn-cs"/>
              </a:rPr>
              <a:t> </a:t>
            </a:r>
            <a:endParaRPr lang="en-GB" sz="3600" i="1" dirty="0">
              <a:latin typeface="+mn-lt"/>
              <a:cs typeface="+mn-cs"/>
            </a:endParaRPr>
          </a:p>
          <a:p>
            <a:pPr>
              <a:defRPr/>
            </a:pPr>
            <a:endParaRPr lang="en-GB" sz="2800" dirty="0">
              <a:latin typeface="+mn-lt"/>
              <a:cs typeface="+mn-cs"/>
            </a:endParaRPr>
          </a:p>
          <a:p>
            <a:pPr>
              <a:defRPr/>
            </a:pPr>
            <a:endParaRPr lang="en-GB" sz="2800" dirty="0">
              <a:latin typeface="+mn-lt"/>
              <a:cs typeface="+mn-c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80976"/>
            <a:ext cx="7246937" cy="657224"/>
          </a:xfrm>
        </p:spPr>
        <p:txBody>
          <a:bodyPr/>
          <a:lstStyle/>
          <a:p>
            <a:r>
              <a:rPr lang="en-GB" sz="3200" dirty="0"/>
              <a:t>STRANDS &amp; SUB STRANDS IN CSL</a:t>
            </a:r>
            <a:endParaRPr lang="en-GB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</p:nvPr>
        </p:nvGraphicFramePr>
        <p:xfrm>
          <a:off x="400052" y="666751"/>
          <a:ext cx="10952160" cy="67820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6472"/>
                <a:gridCol w="1543277"/>
                <a:gridCol w="4451677"/>
                <a:gridCol w="4430734"/>
              </a:tblGrid>
              <a:tr h="3046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STRAND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    GRADE 10- SUB STRANDS 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  </a:t>
                      </a:r>
                      <a:r>
                        <a:rPr lang="en-GB" sz="1800" b="1" dirty="0">
                          <a:effectLst/>
                          <a:latin typeface="Cambria (Body)"/>
                        </a:rPr>
                        <a:t>GRADE 11-  SUB STRANDS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303368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>
                          <a:effectLst/>
                        </a:rPr>
                        <a:t>1.0 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Citizenship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1.1 Concept of CSL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1.1 Civic Dialogue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53170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1.2 Community Needs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1.2 Advocacy in the Community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53170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1.3 Leadership Development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1.3 Leadership Development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46120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1.4 Intercultural </a:t>
                      </a:r>
                      <a:r>
                        <a:rPr lang="en-GB" sz="1800" b="1" dirty="0"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C</a:t>
                      </a: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ompetence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1.4 Intercultural Competence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303368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2.0 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>
                          <a:effectLst/>
                        </a:rPr>
                        <a:t>Life Skills Education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2.1 Self-Awareness in the Community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2.1 Nurturing Empathy          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3033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2.2 Conflict Resolution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2.2 Negotiation Skills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3033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2.3 Responsible Decision Making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2.3 Building Consensus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53170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3.0 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Action Research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3.1 Introduction to Action Research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3.1 Problem Identification Process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37309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3.2 Problem Identification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1219835" algn="l"/>
                        </a:tabLst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3.2 Implementation and Reflection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619743">
                <a:tc vMerge="1">
                  <a:tcPr marL="62637" marR="62637" marT="0" marB="0"/>
                </a:tc>
                <a:tc vMerge="1"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3.3 Designing and Implementing an Intervention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1219835" algn="l"/>
                        </a:tabLst>
                      </a:pPr>
                      <a:r>
                        <a:rPr lang="en-US" sz="1800" b="1" dirty="0"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------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619743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4.0 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</a:rPr>
                        <a:t>Social Entrepreneurship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4.1 Introduction to Social Entrepreneurship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4.1 Social Enterprise Development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53170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4.2 Opportunity Identification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4.2 Social Enterprise Promotion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53170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4.3 Social Enterprise Planning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effectLst/>
                          <a:latin typeface="Cambria (Body)"/>
                        </a:rPr>
                        <a:t>4.3 Social Enterprise Management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  <a:tr h="5317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Cambria (Body)"/>
                          <a:ea typeface="Calibri" panose="020F0502020204030204" pitchFamily="34" charset="0"/>
                        </a:rPr>
                        <a:t>4.3 Resource Mobilisation </a:t>
                      </a:r>
                      <a:endParaRPr lang="en-US" sz="1800" b="1" dirty="0">
                        <a:effectLst/>
                        <a:latin typeface="Cambria (Body)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-----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2637" marR="62637" marT="0" marB="0"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4988"/>
          </a:xfrm>
        </p:spPr>
        <p:txBody>
          <a:bodyPr/>
          <a:lstStyle/>
          <a:p>
            <a:r>
              <a:rPr lang="en-GB" altLang="en-US" sz="3000" b="1" dirty="0">
                <a:latin typeface="Times New Roman" panose="02020603050405020304" charset="0"/>
                <a:ea typeface="Arial Narrow" panose="020B0606020202030204" pitchFamily="34" charset="0"/>
                <a:cs typeface="Arial Narrow" panose="020B0606020202030204" pitchFamily="34" charset="0"/>
              </a:rPr>
              <a:t>Skills &amp; Competencies in CSL:  </a:t>
            </a:r>
            <a:b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5640"/>
            <a:ext cx="10515600" cy="4752542"/>
          </a:xfrm>
        </p:spPr>
        <p:txBody>
          <a:bodyPr/>
          <a:lstStyle/>
          <a:p>
            <a:pPr marL="1200150" indent="-1200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x-none" sz="2400" b="1" dirty="0">
                <a:ea typeface="MS Gothic" panose="020B0609070205080204" pitchFamily="49" charset="-128"/>
              </a:rPr>
              <a:t>Research</a:t>
            </a:r>
            <a:r>
              <a:rPr lang="en-US" sz="2400" b="1" dirty="0">
                <a:ea typeface="MS Gothic" panose="020B0609070205080204" pitchFamily="49" charset="-128"/>
              </a:rPr>
              <a:t> skills: </a:t>
            </a:r>
            <a:r>
              <a:rPr lang="en-US" sz="2400" dirty="0">
                <a:solidFill>
                  <a:srgbClr val="000000"/>
                </a:solidFill>
                <a:ea typeface="Arial Narrow" panose="020B0606020202030204" pitchFamily="34" charset="0"/>
              </a:rPr>
              <a:t> as they investigate PCIs to address, collect  data as evidence, </a:t>
            </a:r>
            <a:r>
              <a:rPr lang="x-none" sz="2400" dirty="0">
                <a:solidFill>
                  <a:srgbClr val="000000"/>
                </a:solidFill>
                <a:ea typeface="MS Gothic" panose="020B0609070205080204" pitchFamily="49" charset="-128"/>
              </a:rPr>
              <a:t>analyse information</a:t>
            </a:r>
            <a:r>
              <a:rPr lang="en-US" sz="2400" dirty="0">
                <a:solidFill>
                  <a:srgbClr val="000000"/>
                </a:solidFill>
                <a:ea typeface="MS Gothic" panose="020B0609070205080204" pitchFamily="49" charset="-128"/>
              </a:rPr>
              <a:t>, </a:t>
            </a:r>
            <a:r>
              <a:rPr lang="x-none" sz="2400" dirty="0">
                <a:solidFill>
                  <a:srgbClr val="000000"/>
                </a:solidFill>
                <a:ea typeface="MS Gothic" panose="020B0609070205080204" pitchFamily="49" charset="-128"/>
              </a:rPr>
              <a:t>present </a:t>
            </a:r>
            <a:r>
              <a:rPr lang="en-US" sz="2400" dirty="0">
                <a:solidFill>
                  <a:srgbClr val="000000"/>
                </a:solidFill>
                <a:ea typeface="MS Gothic" panose="020B0609070205080204" pitchFamily="49" charset="-128"/>
              </a:rPr>
              <a:t>it and draw conclusions</a:t>
            </a:r>
            <a:r>
              <a:rPr lang="x-none" sz="2400" dirty="0">
                <a:solidFill>
                  <a:srgbClr val="000000"/>
                </a:solidFill>
                <a:ea typeface="MS Gothic" panose="020B0609070205080204" pitchFamily="49" charset="-128"/>
              </a:rPr>
              <a:t>. </a:t>
            </a:r>
            <a:endParaRPr lang="en-US" sz="2400" b="1" dirty="0">
              <a:ea typeface="MS Gothic" panose="020B0609070205080204" pitchFamily="49" charset="-128"/>
            </a:endParaRPr>
          </a:p>
          <a:p>
            <a:pPr marL="1200150" indent="-12001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x-none" sz="2400" b="1" dirty="0">
                <a:ea typeface="MS Gothic" panose="020B0609070205080204" pitchFamily="49" charset="-128"/>
              </a:rPr>
              <a:t>Communication</a:t>
            </a:r>
            <a:r>
              <a:rPr lang="en-US" sz="2400" b="1" dirty="0">
                <a:ea typeface="MS Gothic" panose="020B0609070205080204" pitchFamily="49" charset="-128"/>
              </a:rPr>
              <a:t> &amp; collaboration: </a:t>
            </a:r>
            <a:r>
              <a:rPr lang="en-US" sz="2400" dirty="0">
                <a:solidFill>
                  <a:srgbClr val="000000"/>
                </a:solidFill>
                <a:ea typeface="MS Gothic" panose="020B0609070205080204" pitchFamily="49" charset="-128"/>
              </a:rPr>
              <a:t>as they engage with peers and school community members through listening actively, asking questions, doing presentations etc.</a:t>
            </a:r>
            <a:endParaRPr lang="en-US" sz="2400" b="1" dirty="0">
              <a:ea typeface="MS Gothic" panose="020B0609070205080204" pitchFamily="49" charset="-128"/>
            </a:endParaRPr>
          </a:p>
          <a:p>
            <a:pPr marL="1200150" indent="-12001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x-none" sz="2400" b="1" dirty="0">
                <a:ea typeface="MS Gothic" panose="020B0609070205080204" pitchFamily="49" charset="-128"/>
              </a:rPr>
              <a:t>Citizenship</a:t>
            </a:r>
            <a:r>
              <a:rPr lang="en-US" sz="2400" b="1" dirty="0">
                <a:ea typeface="MS Gothic" panose="020B0609070205080204" pitchFamily="49" charset="-128"/>
              </a:rPr>
              <a:t>:</a:t>
            </a:r>
            <a:r>
              <a:rPr lang="x-none" sz="2400" b="1" dirty="0">
                <a:solidFill>
                  <a:srgbClr val="000000"/>
                </a:solidFill>
                <a:ea typeface="Arial Narrow" panose="020B0606020202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Arial Narrow" panose="020B0606020202030204" pitchFamily="34" charset="0"/>
              </a:rPr>
              <a:t>as they </a:t>
            </a:r>
            <a:r>
              <a:rPr lang="x-none" sz="2400" dirty="0">
                <a:solidFill>
                  <a:srgbClr val="000000"/>
                </a:solidFill>
                <a:ea typeface="Arial Unicode MS" panose="020B0604020202020204" charset="-122"/>
              </a:rPr>
              <a:t>e</a:t>
            </a:r>
            <a:r>
              <a:rPr lang="x-none" sz="2400" dirty="0">
                <a:ea typeface="Arial" panose="020B0604020202020204" pitchFamily="34" charset="0"/>
              </a:rPr>
              <a:t>xplore opportunities for engag</a:t>
            </a:r>
            <a:r>
              <a:rPr lang="en-US" sz="2400" dirty="0" err="1">
                <a:ea typeface="Arial" panose="020B0604020202020204" pitchFamily="34" charset="0"/>
              </a:rPr>
              <a:t>ing</a:t>
            </a:r>
            <a:r>
              <a:rPr lang="en-US" sz="2400" dirty="0">
                <a:ea typeface="Arial" panose="020B0604020202020204" pitchFamily="34" charset="0"/>
              </a:rPr>
              <a:t> with community and provide services for the common good.</a:t>
            </a:r>
            <a:endParaRPr lang="en-US" sz="2400" b="1" dirty="0">
              <a:ea typeface="MS Gothic" panose="020B0609070205080204" pitchFamily="49" charset="-128"/>
            </a:endParaRPr>
          </a:p>
          <a:p>
            <a:pPr marL="1200150" indent="-12001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400" b="1" dirty="0">
                <a:solidFill>
                  <a:srgbClr val="000000"/>
                </a:solidFill>
                <a:ea typeface="Arial Narrow" panose="020B0606020202030204" pitchFamily="34" charset="0"/>
              </a:rPr>
              <a:t>Leadership skills</a:t>
            </a:r>
            <a:r>
              <a:rPr lang="en-GB" sz="2400" dirty="0">
                <a:solidFill>
                  <a:srgbClr val="000000"/>
                </a:solidFill>
                <a:ea typeface="Arial Narrow" panose="020B0606020202030204" pitchFamily="34" charset="0"/>
              </a:rPr>
              <a:t>: Learners develop leadership skills as they take up and lead various roles and responsibilities within the CSL activity.</a:t>
            </a:r>
            <a:endParaRPr lang="en-US" sz="2400" dirty="0">
              <a:ea typeface="Calibri" panose="020F0502020204030204" pitchFamily="34" charset="0"/>
            </a:endParaRPr>
          </a:p>
          <a:p>
            <a:pPr marL="1200150" indent="-12001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400" b="1" dirty="0">
                <a:solidFill>
                  <a:srgbClr val="000000"/>
                </a:solidFill>
                <a:ea typeface="Arial Narrow" panose="020B0606020202030204" pitchFamily="34" charset="0"/>
              </a:rPr>
              <a:t>Financial Literacy Skills:</a:t>
            </a:r>
            <a:r>
              <a:rPr lang="en-GB" sz="2400" dirty="0">
                <a:solidFill>
                  <a:srgbClr val="000000"/>
                </a:solidFill>
                <a:ea typeface="Arial Narrow" panose="020B0606020202030204" pitchFamily="34" charset="0"/>
              </a:rPr>
              <a:t> as they prepare the CSL project’s budget, source funding, utilise resources efficiently and account for the resources.</a:t>
            </a:r>
            <a:endParaRPr lang="en-US" sz="2400" dirty="0">
              <a:ea typeface="Calibri" panose="020F0502020204030204" pitchFamily="34" charset="0"/>
            </a:endParaRPr>
          </a:p>
          <a:p>
            <a:pPr marL="1143000" indent="-11430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400" b="1" dirty="0">
                <a:solidFill>
                  <a:srgbClr val="000000"/>
                </a:solidFill>
                <a:ea typeface="Arial Narrow" panose="020B0606020202030204" pitchFamily="34" charset="0"/>
              </a:rPr>
              <a:t>Entrepreneurship</a:t>
            </a:r>
            <a:r>
              <a:rPr lang="en-GB" sz="2400" dirty="0">
                <a:solidFill>
                  <a:srgbClr val="000000"/>
                </a:solidFill>
                <a:ea typeface="Arial Narrow" panose="020B0606020202030204" pitchFamily="34" charset="0"/>
              </a:rPr>
              <a:t>: as they consider projects or innovations that addresses gaps and generate income in the long run.</a:t>
            </a:r>
            <a:endParaRPr lang="en-US" sz="2400" dirty="0">
              <a:ea typeface="Calibri" panose="020F0502020204030204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"/>
          <p:cNvSpPr txBox="1">
            <a:spLocks noChangeArrowheads="1"/>
          </p:cNvSpPr>
          <p:nvPr/>
        </p:nvSpPr>
        <p:spPr bwMode="auto">
          <a:xfrm>
            <a:off x="2601912" y="1500187"/>
            <a:ext cx="64277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lgerian" panose="04020705040A02060702" pitchFamily="82" charset="0"/>
                <a:ea typeface="STHupo" panose="020B0503020204020204" pitchFamily="2" charset="-122"/>
                <a:cs typeface="Times New Roman" panose="02020603050405020304" charset="0"/>
              </a:rPr>
              <a:t>THANK YOU</a:t>
            </a:r>
            <a:endParaRPr kumimoji="0" lang="en-US" altLang="en-US" sz="4400" b="0" i="1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Algerian" panose="04020705040A02060702" pitchFamily="82" charset="0"/>
              <a:ea typeface="STHupo" panose="020B0503020204020204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CD Bran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5260</Words>
  <Application>WPS Presentation</Application>
  <PresentationFormat>Widescreen</PresentationFormat>
  <Paragraphs>214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 Light</vt:lpstr>
      <vt:lpstr>Times New Roman</vt:lpstr>
      <vt:lpstr>Agency FB</vt:lpstr>
      <vt:lpstr>MS Mincho</vt:lpstr>
      <vt:lpstr>Cambria</vt:lpstr>
      <vt:lpstr>Segoe UI Emoji</vt:lpstr>
      <vt:lpstr>Cambria (Body)</vt:lpstr>
      <vt:lpstr>Arial Narrow</vt:lpstr>
      <vt:lpstr>MS Gothic</vt:lpstr>
      <vt:lpstr>Arial Unicode MS</vt:lpstr>
      <vt:lpstr>Algerian</vt:lpstr>
      <vt:lpstr>STHupo</vt:lpstr>
      <vt:lpstr>Microsoft YaHei</vt:lpstr>
      <vt:lpstr>KICD Branding</vt:lpstr>
      <vt:lpstr>1_Office Theme</vt:lpstr>
      <vt:lpstr>PowerPoint 演示文稿</vt:lpstr>
      <vt:lpstr>PowerPoint 演示文稿</vt:lpstr>
      <vt:lpstr>PowerPoint 演示文稿</vt:lpstr>
      <vt:lpstr>PowerPoint 演示文稿</vt:lpstr>
      <vt:lpstr>Principles of CSL in Basic Education     .      </vt:lpstr>
      <vt:lpstr>               IMPLEMENTATION OF CSL  </vt:lpstr>
      <vt:lpstr>           CONTINUED….</vt:lpstr>
      <vt:lpstr>PowerPoint 演示文稿</vt:lpstr>
      <vt:lpstr>STRANDS &amp; SUB STRANDS IN CSL</vt:lpstr>
      <vt:lpstr>Skills &amp; Competencies in CSL: 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wambugu</dc:creator>
  <cp:lastModifiedBy>ASUMBI TTC</cp:lastModifiedBy>
  <cp:revision>20</cp:revision>
  <dcterms:created xsi:type="dcterms:W3CDTF">2022-04-19T09:50:00Z</dcterms:created>
  <dcterms:modified xsi:type="dcterms:W3CDTF">2025-08-10T16:04:22Z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0067B165A40D4335A4776E4B0E1D0282_13</vt:lpwstr>
  </property>
  <property fmtid="{D5CDD505-2E9C-101B-9397-08002B2CF9AE}" pid="3" name="KSOProductBuildVer">
    <vt:lpwstr>1033-12.2.0.21931</vt:lpwstr>
  </property>
</Properties>
</file>