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5">
  <p:sldMasterIdLst>
    <p:sldMasterId id="2147483648" r:id="rId1"/>
  </p:sldMasterIdLst>
  <p:notesMasterIdLst>
    <p:notesMasterId r:id="rId29"/>
  </p:notesMasterIdLst>
  <p:sldIdLst>
    <p:sldId id="259" r:id="rId2"/>
    <p:sldId id="302" r:id="rId3"/>
    <p:sldId id="299" r:id="rId4"/>
    <p:sldId id="298" r:id="rId5"/>
    <p:sldId id="300" r:id="rId6"/>
    <p:sldId id="301" r:id="rId7"/>
    <p:sldId id="317" r:id="rId8"/>
    <p:sldId id="318" r:id="rId9"/>
    <p:sldId id="315" r:id="rId10"/>
    <p:sldId id="316" r:id="rId11"/>
    <p:sldId id="309" r:id="rId12"/>
    <p:sldId id="310" r:id="rId13"/>
    <p:sldId id="288" r:id="rId14"/>
    <p:sldId id="319" r:id="rId15"/>
    <p:sldId id="295" r:id="rId16"/>
    <p:sldId id="305" r:id="rId17"/>
    <p:sldId id="306" r:id="rId18"/>
    <p:sldId id="307" r:id="rId19"/>
    <p:sldId id="308" r:id="rId20"/>
    <p:sldId id="290" r:id="rId21"/>
    <p:sldId id="283" r:id="rId22"/>
    <p:sldId id="293" r:id="rId23"/>
    <p:sldId id="304" r:id="rId24"/>
    <p:sldId id="313" r:id="rId25"/>
    <p:sldId id="311" r:id="rId26"/>
    <p:sldId id="320" r:id="rId27"/>
    <p:sldId id="27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69116" autoAdjust="0"/>
  </p:normalViewPr>
  <p:slideViewPr>
    <p:cSldViewPr snapToGrid="0" showGuides="1">
      <p:cViewPr varScale="1">
        <p:scale>
          <a:sx n="43" d="100"/>
          <a:sy n="43" d="100"/>
        </p:scale>
        <p:origin x="1452" y="88"/>
      </p:cViewPr>
      <p:guideLst>
        <p:guide orient="horz" pos="2160"/>
        <p:guide pos="3840"/>
      </p:guideLst>
    </p:cSldViewPr>
  </p:slideViewPr>
  <p:notesTextViewPr>
    <p:cViewPr>
      <p:scale>
        <a:sx n="3" d="2"/>
        <a:sy n="3" d="2"/>
      </p:scale>
      <p:origin x="0" y="0"/>
    </p:cViewPr>
  </p:notesTextViewPr>
  <p:sorterViewPr>
    <p:cViewPr>
      <p:scale>
        <a:sx n="100" d="100"/>
        <a:sy n="100" d="100"/>
      </p:scale>
      <p:origin x="0" y="-7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CF42C-D96F-4F83-B252-E5B3C46B64A7}" type="datetimeFigureOut">
              <a:rPr lang="en-US" smtClean="0"/>
              <a:t>8/3/2025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529AE-D0D9-439B-877D-604AFF0549A3}" type="slidenum">
              <a:rPr lang="en-US" smtClean="0"/>
              <a:t>‹#›</a:t>
            </a:fld>
            <a:endParaRPr lang="en-US"/>
          </a:p>
        </p:txBody>
      </p:sp>
    </p:spTree>
    <p:extLst>
      <p:ext uri="{BB962C8B-B14F-4D97-AF65-F5344CB8AC3E}">
        <p14:creationId xmlns:p14="http://schemas.microsoft.com/office/powerpoint/2010/main" val="63955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7E47491-B5E2-427C-9735-1433022EDB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154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D529AE-D0D9-439B-877D-604AFF0549A3}" type="slidenum">
              <a:rPr lang="en-US" smtClean="0"/>
              <a:t>3</a:t>
            </a:fld>
            <a:endParaRPr lang="en-US"/>
          </a:p>
        </p:txBody>
      </p:sp>
    </p:spTree>
    <p:extLst>
      <p:ext uri="{BB962C8B-B14F-4D97-AF65-F5344CB8AC3E}">
        <p14:creationId xmlns:p14="http://schemas.microsoft.com/office/powerpoint/2010/main" val="3852276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D529AE-D0D9-439B-877D-604AFF0549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58252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D529AE-D0D9-439B-877D-604AFF0549A3}" type="slidenum">
              <a:rPr lang="en-US" smtClean="0"/>
              <a:t>12</a:t>
            </a:fld>
            <a:endParaRPr lang="en-US"/>
          </a:p>
        </p:txBody>
      </p:sp>
    </p:spTree>
    <p:extLst>
      <p:ext uri="{BB962C8B-B14F-4D97-AF65-F5344CB8AC3E}">
        <p14:creationId xmlns:p14="http://schemas.microsoft.com/office/powerpoint/2010/main" val="2622232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D529AE-D0D9-439B-877D-604AFF0549A3}" type="slidenum">
              <a:rPr lang="en-US" smtClean="0"/>
              <a:t>13</a:t>
            </a:fld>
            <a:endParaRPr lang="en-US"/>
          </a:p>
        </p:txBody>
      </p:sp>
    </p:spTree>
    <p:extLst>
      <p:ext uri="{BB962C8B-B14F-4D97-AF65-F5344CB8AC3E}">
        <p14:creationId xmlns:p14="http://schemas.microsoft.com/office/powerpoint/2010/main" val="315118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D529AE-D0D9-439B-877D-604AFF0549A3}" type="slidenum">
              <a:rPr lang="en-US" smtClean="0"/>
              <a:t>19</a:t>
            </a:fld>
            <a:endParaRPr lang="en-US"/>
          </a:p>
        </p:txBody>
      </p:sp>
    </p:spTree>
    <p:extLst>
      <p:ext uri="{BB962C8B-B14F-4D97-AF65-F5344CB8AC3E}">
        <p14:creationId xmlns:p14="http://schemas.microsoft.com/office/powerpoint/2010/main" val="3580822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The date can come after the week.</a:t>
            </a:r>
          </a:p>
        </p:txBody>
      </p:sp>
      <p:sp>
        <p:nvSpPr>
          <p:cNvPr id="4" name="Slide Number Placeholder 3"/>
          <p:cNvSpPr>
            <a:spLocks noGrp="1"/>
          </p:cNvSpPr>
          <p:nvPr>
            <p:ph type="sldNum" sz="quarter" idx="10"/>
          </p:nvPr>
        </p:nvSpPr>
        <p:spPr/>
        <p:txBody>
          <a:bodyPr/>
          <a:lstStyle/>
          <a:p>
            <a:fld id="{29D529AE-D0D9-439B-877D-604AFF0549A3}" type="slidenum">
              <a:rPr lang="en-US" smtClean="0"/>
              <a:t>23</a:t>
            </a:fld>
            <a:endParaRPr lang="en-US"/>
          </a:p>
        </p:txBody>
      </p:sp>
    </p:spTree>
    <p:extLst>
      <p:ext uri="{BB962C8B-B14F-4D97-AF65-F5344CB8AC3E}">
        <p14:creationId xmlns:p14="http://schemas.microsoft.com/office/powerpoint/2010/main" val="1436339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93FA5BD-1782-4F44-A65A-505F0FDA2CE1}" type="datetimeFigureOut">
              <a:rPr lang="en-GB" smtClean="0"/>
              <a:t>03/08/2025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FAC9282-0D1E-4C51-86B1-EF09801723B1}" type="slidenum">
              <a:rPr lang="en-GB" smtClean="0"/>
              <a:t>‹#›</a:t>
            </a:fld>
            <a:endParaRPr lang="en-GB"/>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93FA5BD-1782-4F44-A65A-505F0FDA2CE1}" type="datetimeFigureOut">
              <a:rPr lang="en-GB" smtClean="0"/>
              <a:t>03/08/2025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FAC9282-0D1E-4C51-86B1-EF09801723B1}" type="slidenum">
              <a:rPr lang="en-GB" smtClean="0"/>
              <a:t>‹#›</a:t>
            </a:fld>
            <a:endParaRPr lang="en-GB"/>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93FA5BD-1782-4F44-A65A-505F0FDA2CE1}" type="datetimeFigureOut">
              <a:rPr lang="en-GB" smtClean="0"/>
              <a:t>03/08/2025</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FAC9282-0D1E-4C51-86B1-EF09801723B1}" type="slidenum">
              <a:rPr lang="en-GB" smtClean="0"/>
              <a:t>‹#›</a:t>
            </a:fld>
            <a:endParaRPr lang="en-GB"/>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793FA5BD-1782-4F44-A65A-505F0FDA2CE1}" type="datetimeFigureOut">
              <a:rPr lang="en-GB" smtClean="0"/>
              <a:t>03/08/2025</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6FAC9282-0D1E-4C51-86B1-EF09801723B1}" type="slidenum">
              <a:rPr lang="en-GB" smtClean="0"/>
              <a:t>‹#›</a:t>
            </a:fld>
            <a:endParaRPr lang="en-GB"/>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793FA5BD-1782-4F44-A65A-505F0FDA2CE1}" type="datetimeFigureOut">
              <a:rPr lang="en-GB" smtClean="0"/>
              <a:t>03/08/2025</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6FAC9282-0D1E-4C51-86B1-EF09801723B1}" type="slidenum">
              <a:rPr lang="en-GB" smtClean="0"/>
              <a:t>‹#›</a:t>
            </a:fld>
            <a:endParaRPr lang="en-GB"/>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www.menti.com/al1q99r6oqex"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03606" y="-1233631"/>
            <a:ext cx="184730" cy="30162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800" b="1" i="0" u="none" strike="noStrike" kern="1200" cap="none" spc="0" normalizeH="0" baseline="0" noProof="0" dirty="0">
              <a:ln>
                <a:noFill/>
              </a:ln>
              <a:solidFill>
                <a:srgbClr val="1F497D">
                  <a:lumMod val="75000"/>
                </a:srgbClr>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800" b="1" i="0" u="none" strike="noStrike" kern="1200" cap="none" spc="0" normalizeH="0" baseline="0" noProof="0" dirty="0">
              <a:ln>
                <a:noFill/>
              </a:ln>
              <a:solidFill>
                <a:srgbClr val="7030A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3" name="Title 2"/>
          <p:cNvSpPr>
            <a:spLocks noGrp="1"/>
          </p:cNvSpPr>
          <p:nvPr>
            <p:ph type="ctrTitle"/>
          </p:nvPr>
        </p:nvSpPr>
        <p:spPr>
          <a:xfrm>
            <a:off x="460375" y="1782580"/>
            <a:ext cx="11259400" cy="1625638"/>
          </a:xfrm>
        </p:spPr>
        <p:txBody>
          <a:bodyPr>
            <a:normAutofit fontScale="90000"/>
          </a:bodyPr>
          <a:lstStyle/>
          <a:p>
            <a:r>
              <a:rPr lang="en-US" sz="3600" b="1" dirty="0"/>
              <a:t> </a:t>
            </a:r>
            <a:br>
              <a:rPr lang="en-US" sz="3600" b="1" dirty="0"/>
            </a:br>
            <a:br>
              <a:rPr lang="en-US" sz="3600" b="1" dirty="0"/>
            </a:br>
            <a:r>
              <a:rPr lang="en-US" sz="3600" b="1" dirty="0"/>
              <a:t>PROFESSIONAL DOCUMENTS</a:t>
            </a:r>
            <a:br>
              <a:rPr lang="en-GB" sz="3600" b="1" dirty="0"/>
            </a:br>
            <a:br>
              <a:rPr lang="en-US" sz="3200" b="1" dirty="0"/>
            </a:br>
            <a:endParaRPr lang="en-US" sz="3200" b="1" dirty="0"/>
          </a:p>
        </p:txBody>
      </p:sp>
      <p:sp>
        <p:nvSpPr>
          <p:cNvPr id="4" name="Subtitle 3"/>
          <p:cNvSpPr>
            <a:spLocks noGrp="1"/>
          </p:cNvSpPr>
          <p:nvPr>
            <p:ph type="subTitle" idx="1"/>
          </p:nvPr>
        </p:nvSpPr>
        <p:spPr>
          <a:xfrm>
            <a:off x="0" y="4096245"/>
            <a:ext cx="12192000" cy="1752600"/>
          </a:xfrm>
        </p:spPr>
        <p:txBody>
          <a:bodyPr/>
          <a:lstStyle/>
          <a:p>
            <a:r>
              <a:rPr lang="en-US" sz="3200" b="1" dirty="0"/>
              <a:t>AUGUST, 2025</a:t>
            </a:r>
          </a:p>
        </p:txBody>
      </p:sp>
      <p:sp>
        <p:nvSpPr>
          <p:cNvPr id="6" name="AutoShape 2" descr="KICD (@KICDKenya) /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4" descr="KICD (@KICDKenya) /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868680"/>
          </a:xfrm>
        </p:spPr>
        <p:txBody>
          <a:bodyPr/>
          <a:lstStyle/>
          <a:p>
            <a:pPr algn="ctr"/>
            <a:r>
              <a:rPr lang="en-US" dirty="0"/>
              <a:t>Learning Outcomes</a:t>
            </a:r>
          </a:p>
        </p:txBody>
      </p:sp>
      <p:sp>
        <p:nvSpPr>
          <p:cNvPr id="3" name="Content Placeholder 2"/>
          <p:cNvSpPr>
            <a:spLocks noGrp="1"/>
          </p:cNvSpPr>
          <p:nvPr>
            <p:ph idx="1"/>
          </p:nvPr>
        </p:nvSpPr>
        <p:spPr>
          <a:xfrm>
            <a:off x="114300" y="868681"/>
            <a:ext cx="12077700" cy="5074919"/>
          </a:xfrm>
        </p:spPr>
        <p:txBody>
          <a:bodyPr/>
          <a:lstStyle/>
          <a:p>
            <a:pPr marL="0" indent="0">
              <a:buNone/>
            </a:pPr>
            <a:r>
              <a:rPr lang="en-US" sz="3600" b="1" dirty="0"/>
              <a:t>By the end of the session, participants will: </a:t>
            </a:r>
            <a:br>
              <a:rPr lang="en-US" sz="3600" b="1" dirty="0"/>
            </a:br>
            <a:r>
              <a:rPr lang="en-US" sz="3600" dirty="0"/>
              <a:t>a)  State the importance of various professional documents,</a:t>
            </a:r>
          </a:p>
          <a:p>
            <a:pPr marL="0" indent="0">
              <a:buNone/>
            </a:pPr>
            <a:br>
              <a:rPr lang="en-US" sz="3600" dirty="0"/>
            </a:br>
            <a:r>
              <a:rPr lang="en-US" sz="3600" dirty="0"/>
              <a:t>b)  Outline the components of each professional document,</a:t>
            </a:r>
          </a:p>
          <a:p>
            <a:pPr marL="0" indent="0">
              <a:buNone/>
            </a:pPr>
            <a:br>
              <a:rPr lang="en-US" sz="3600" dirty="0"/>
            </a:br>
            <a:r>
              <a:rPr lang="en-US" sz="3600" dirty="0"/>
              <a:t>c)  Develop and critique various professional documents</a:t>
            </a:r>
          </a:p>
          <a:p>
            <a:pPr marL="0" indent="0">
              <a:buNone/>
            </a:pPr>
            <a:br>
              <a:rPr lang="en-US" sz="3600" dirty="0"/>
            </a:br>
            <a:r>
              <a:rPr lang="en-US" sz="3600" dirty="0"/>
              <a:t>d)  Appreciate the importance of preparing own professional</a:t>
            </a:r>
          </a:p>
          <a:p>
            <a:pPr marL="0" indent="0">
              <a:buNone/>
            </a:pPr>
            <a:r>
              <a:rPr lang="en-US" sz="3600" dirty="0"/>
              <a:t>      documents</a:t>
            </a:r>
            <a:br>
              <a:rPr lang="en-US" sz="3600" b="1" dirty="0"/>
            </a:br>
            <a:endParaRPr lang="en-US" sz="3600" dirty="0"/>
          </a:p>
        </p:txBody>
      </p:sp>
    </p:spTree>
    <p:extLst>
      <p:ext uri="{BB962C8B-B14F-4D97-AF65-F5344CB8AC3E}">
        <p14:creationId xmlns:p14="http://schemas.microsoft.com/office/powerpoint/2010/main" val="3121269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89" y="891259"/>
            <a:ext cx="12077700" cy="5074919"/>
          </a:xfrm>
        </p:spPr>
        <p:txBody>
          <a:bodyPr/>
          <a:lstStyle/>
          <a:p>
            <a:endParaRPr lang="en-US" dirty="0"/>
          </a:p>
          <a:p>
            <a:pPr marL="0" indent="0">
              <a:buNone/>
            </a:pPr>
            <a:endParaRPr lang="en-US" dirty="0"/>
          </a:p>
        </p:txBody>
      </p:sp>
      <p:sp>
        <p:nvSpPr>
          <p:cNvPr id="4" name="Rectangle 3"/>
          <p:cNvSpPr/>
          <p:nvPr/>
        </p:nvSpPr>
        <p:spPr>
          <a:xfrm>
            <a:off x="9207500" y="1241300"/>
            <a:ext cx="3081867" cy="5355312"/>
          </a:xfrm>
          <a:prstGeom prst="rect">
            <a:avLst/>
          </a:prstGeom>
          <a:ln w="76200">
            <a:solidFill>
              <a:schemeClr val="tx1"/>
            </a:solidFill>
          </a:ln>
        </p:spPr>
        <p:txBody>
          <a:bodyPr wrap="square">
            <a:spAutoFit/>
          </a:bodyPr>
          <a:lstStyle/>
          <a:p>
            <a:pPr algn="ctr"/>
            <a:endParaRPr lang="en-US" sz="1400" b="1" dirty="0"/>
          </a:p>
          <a:p>
            <a:pPr algn="ctr"/>
            <a:endParaRPr lang="en-US" sz="1400" b="1" dirty="0"/>
          </a:p>
          <a:p>
            <a:pPr algn="ctr"/>
            <a:r>
              <a:rPr lang="en-US" sz="1400" b="1" dirty="0"/>
              <a:t>INDIVIDUAL  ACTIVITY 1</a:t>
            </a:r>
          </a:p>
          <a:p>
            <a:pPr algn="ctr"/>
            <a:r>
              <a:rPr lang="en-US" sz="1200" b="1" dirty="0">
                <a:hlinkClick r:id="rId3"/>
              </a:rPr>
              <a:t>https://www.menti.com/al1q99r6oqex</a:t>
            </a:r>
            <a:endParaRPr lang="en-US" sz="1200" b="1" dirty="0"/>
          </a:p>
          <a:p>
            <a:pPr algn="ctr"/>
            <a:endParaRPr lang="en-US" sz="1200" b="1" dirty="0"/>
          </a:p>
          <a:p>
            <a:pPr algn="ctr"/>
            <a:r>
              <a:rPr lang="en-US" sz="1200" b="1" dirty="0">
                <a:solidFill>
                  <a:srgbClr val="FF0000"/>
                </a:solidFill>
              </a:rPr>
              <a:t>Or Code : 27579106</a:t>
            </a:r>
          </a:p>
          <a:p>
            <a:pPr algn="ctr"/>
            <a:endParaRPr lang="en-US" sz="1200" b="1" dirty="0"/>
          </a:p>
          <a:p>
            <a:pPr algn="ctr"/>
            <a:endParaRPr lang="en-US" sz="3600" b="1" dirty="0"/>
          </a:p>
          <a:p>
            <a:pPr algn="ctr"/>
            <a:endParaRPr lang="en-US" sz="3600" b="1" dirty="0"/>
          </a:p>
          <a:p>
            <a:pPr algn="ctr"/>
            <a:r>
              <a:rPr lang="en-US" sz="3600" b="1" dirty="0"/>
              <a:t>Schemes of Work</a:t>
            </a:r>
          </a:p>
          <a:p>
            <a:pPr algn="ctr"/>
            <a:endParaRPr lang="en-US" sz="3600" b="1" dirty="0"/>
          </a:p>
          <a:p>
            <a:pPr algn="ctr"/>
            <a:endParaRPr lang="en-US" sz="3600" b="1" dirty="0"/>
          </a:p>
          <a:p>
            <a:pPr algn="ctr"/>
            <a:endParaRPr lang="en-US" sz="3600" b="1" dirty="0"/>
          </a:p>
        </p:txBody>
      </p:sp>
      <p:pic>
        <p:nvPicPr>
          <p:cNvPr id="5" name="Picture 4"/>
          <p:cNvPicPr>
            <a:picLocks noChangeAspect="1"/>
          </p:cNvPicPr>
          <p:nvPr/>
        </p:nvPicPr>
        <p:blipFill>
          <a:blip r:embed="rId4"/>
          <a:stretch>
            <a:fillRect/>
          </a:stretch>
        </p:blipFill>
        <p:spPr>
          <a:xfrm>
            <a:off x="9931400" y="2343735"/>
            <a:ext cx="1422400" cy="1298222"/>
          </a:xfrm>
          <a:prstGeom prst="rect">
            <a:avLst/>
          </a:prstGeom>
        </p:spPr>
      </p:pic>
      <p:sp>
        <p:nvSpPr>
          <p:cNvPr id="7" name="TextBox 6"/>
          <p:cNvSpPr txBox="1"/>
          <p:nvPr/>
        </p:nvSpPr>
        <p:spPr>
          <a:xfrm>
            <a:off x="410634" y="225945"/>
            <a:ext cx="5768622" cy="523220"/>
          </a:xfrm>
          <a:prstGeom prst="rect">
            <a:avLst/>
          </a:prstGeom>
          <a:noFill/>
          <a:ln w="19050">
            <a:solidFill>
              <a:schemeClr val="tx1"/>
            </a:solidFill>
          </a:ln>
        </p:spPr>
        <p:txBody>
          <a:bodyPr wrap="square" rtlCol="0">
            <a:spAutoFit/>
          </a:bodyPr>
          <a:lstStyle/>
          <a:p>
            <a:r>
              <a:rPr lang="en-GB" sz="2800" b="1" dirty="0"/>
              <a:t>Simple Steps to Use Mentimeter</a:t>
            </a:r>
            <a:endParaRPr lang="en-US" sz="2800" b="1" dirty="0"/>
          </a:p>
        </p:txBody>
      </p:sp>
      <p:sp>
        <p:nvSpPr>
          <p:cNvPr id="8" name="Rectangle 7"/>
          <p:cNvSpPr/>
          <p:nvPr/>
        </p:nvSpPr>
        <p:spPr>
          <a:xfrm>
            <a:off x="114299" y="1130291"/>
            <a:ext cx="8978901" cy="5632311"/>
          </a:xfrm>
          <a:prstGeom prst="rect">
            <a:avLst/>
          </a:prstGeom>
        </p:spPr>
        <p:txBody>
          <a:bodyPr wrap="square">
            <a:spAutoFit/>
          </a:bodyPr>
          <a:lstStyle/>
          <a:p>
            <a:pPr marL="285750" indent="-285750">
              <a:buFont typeface="Arial" panose="020B0604020202020204" pitchFamily="34" charset="0"/>
              <a:buChar char="•"/>
            </a:pPr>
            <a:r>
              <a:rPr lang="en-GB" sz="2400" b="1" dirty="0">
                <a:latin typeface="Arial Black" panose="020B0A04020102020204" pitchFamily="34" charset="0"/>
              </a:rPr>
              <a:t>Create an Account.</a:t>
            </a:r>
          </a:p>
          <a:p>
            <a:pPr marL="285750" indent="-285750">
              <a:buFont typeface="Arial" panose="020B0604020202020204" pitchFamily="34" charset="0"/>
              <a:buChar char="•"/>
            </a:pPr>
            <a:r>
              <a:rPr lang="en-GB" sz="2400" b="1" dirty="0">
                <a:latin typeface="Arial Black" panose="020B0A04020102020204" pitchFamily="34" charset="0"/>
              </a:rPr>
              <a:t>Go to www.mentimeter.com.</a:t>
            </a:r>
          </a:p>
          <a:p>
            <a:pPr marL="285750" indent="-285750">
              <a:buFont typeface="Arial" panose="020B0604020202020204" pitchFamily="34" charset="0"/>
              <a:buChar char="•"/>
            </a:pPr>
            <a:r>
              <a:rPr lang="en-GB" sz="2400" b="1" dirty="0">
                <a:latin typeface="Arial Black" panose="020B0A04020102020204" pitchFamily="34" charset="0"/>
              </a:rPr>
              <a:t>Click Sign up or Log in using your email, Google, or Microsoft account.</a:t>
            </a:r>
          </a:p>
          <a:p>
            <a:pPr marL="285750" indent="-285750">
              <a:buFont typeface="Arial" panose="020B0604020202020204" pitchFamily="34" charset="0"/>
              <a:buChar char="•"/>
            </a:pPr>
            <a:r>
              <a:rPr lang="en-GB" sz="2400" b="1" dirty="0">
                <a:latin typeface="Arial Black" panose="020B0A04020102020204" pitchFamily="34" charset="0"/>
              </a:rPr>
              <a:t>Start a New Presentation</a:t>
            </a:r>
          </a:p>
          <a:p>
            <a:pPr marL="285750" indent="-285750">
              <a:buFont typeface="Arial" panose="020B0604020202020204" pitchFamily="34" charset="0"/>
              <a:buChar char="•"/>
            </a:pPr>
            <a:r>
              <a:rPr lang="en-GB" sz="2400" b="1" dirty="0">
                <a:latin typeface="Arial Black" panose="020B0A04020102020204" pitchFamily="34" charset="0"/>
              </a:rPr>
              <a:t>Click on “+ New presentation”.</a:t>
            </a:r>
          </a:p>
          <a:p>
            <a:pPr marL="285750" indent="-285750">
              <a:buFont typeface="Arial" panose="020B0604020202020204" pitchFamily="34" charset="0"/>
              <a:buChar char="•"/>
            </a:pPr>
            <a:r>
              <a:rPr lang="en-GB" sz="2400" b="1" dirty="0">
                <a:latin typeface="Arial Black" panose="020B0A04020102020204" pitchFamily="34" charset="0"/>
              </a:rPr>
              <a:t>Give your presentation a title.</a:t>
            </a:r>
          </a:p>
          <a:p>
            <a:pPr marL="285750" indent="-285750">
              <a:buFont typeface="Arial" panose="020B0604020202020204" pitchFamily="34" charset="0"/>
              <a:buChar char="•"/>
            </a:pPr>
            <a:r>
              <a:rPr lang="en-GB" sz="2400" b="1" dirty="0">
                <a:latin typeface="Arial Black" panose="020B0A04020102020204" pitchFamily="34" charset="0"/>
              </a:rPr>
              <a:t>Add Questions</a:t>
            </a:r>
          </a:p>
          <a:p>
            <a:pPr marL="285750" indent="-285750">
              <a:buFont typeface="Arial" panose="020B0604020202020204" pitchFamily="34" charset="0"/>
              <a:buChar char="•"/>
            </a:pPr>
            <a:r>
              <a:rPr lang="en-GB" sz="2400" b="1" dirty="0">
                <a:latin typeface="Arial Black" panose="020B0A04020102020204" pitchFamily="34" charset="0"/>
              </a:rPr>
              <a:t>Choose question types (e.g., Multiple Choice, Word Cloud, Open-ended).</a:t>
            </a:r>
          </a:p>
          <a:p>
            <a:pPr marL="285750" indent="-285750">
              <a:buFont typeface="Arial" panose="020B0604020202020204" pitchFamily="34" charset="0"/>
              <a:buChar char="•"/>
            </a:pPr>
            <a:r>
              <a:rPr lang="en-GB" sz="2400" b="1" dirty="0">
                <a:latin typeface="Arial Black" panose="020B0A04020102020204" pitchFamily="34" charset="0"/>
              </a:rPr>
              <a:t>Enter your questions and any instructions needed.</a:t>
            </a:r>
          </a:p>
          <a:p>
            <a:pPr marL="285750" indent="-285750">
              <a:buFont typeface="Arial" panose="020B0604020202020204" pitchFamily="34" charset="0"/>
              <a:buChar char="•"/>
            </a:pPr>
            <a:r>
              <a:rPr lang="en-GB" sz="2400" b="1" dirty="0">
                <a:latin typeface="Arial Black" panose="020B0A04020102020204" pitchFamily="34" charset="0"/>
              </a:rPr>
              <a:t>Present and Share</a:t>
            </a:r>
          </a:p>
          <a:p>
            <a:pPr marL="285750" indent="-285750">
              <a:buFont typeface="Arial" panose="020B0604020202020204" pitchFamily="34" charset="0"/>
              <a:buChar char="•"/>
            </a:pPr>
            <a:r>
              <a:rPr lang="en-GB" sz="2400" b="1" dirty="0">
                <a:latin typeface="Arial Black" panose="020B0A04020102020204" pitchFamily="34" charset="0"/>
              </a:rPr>
              <a:t>Click Present to generate a code or link.</a:t>
            </a:r>
          </a:p>
          <a:p>
            <a:pPr marL="285750" indent="-285750">
              <a:buFont typeface="Arial" panose="020B0604020202020204" pitchFamily="34" charset="0"/>
              <a:buChar char="•"/>
            </a:pPr>
            <a:r>
              <a:rPr lang="en-GB" sz="2400" b="1" dirty="0">
                <a:solidFill>
                  <a:schemeClr val="bg1"/>
                </a:solidFill>
                <a:latin typeface="Arial Black" panose="020B0A04020102020204" pitchFamily="34" charset="0"/>
              </a:rPr>
              <a:t>Share the code or URL with learners so they can join using their devices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14399"/>
          </a:xfrm>
        </p:spPr>
        <p:txBody>
          <a:bodyPr/>
          <a:lstStyle/>
          <a:p>
            <a:pPr algn="ctr"/>
            <a:r>
              <a:rPr lang="en-US" b="1" dirty="0"/>
              <a:t>Schemes of Work</a:t>
            </a:r>
          </a:p>
        </p:txBody>
      </p:sp>
      <p:sp>
        <p:nvSpPr>
          <p:cNvPr id="3" name="Content Placeholder 2"/>
          <p:cNvSpPr>
            <a:spLocks noGrp="1"/>
          </p:cNvSpPr>
          <p:nvPr>
            <p:ph idx="1"/>
          </p:nvPr>
        </p:nvSpPr>
        <p:spPr>
          <a:xfrm>
            <a:off x="0" y="824089"/>
            <a:ext cx="12192000" cy="5352874"/>
          </a:xfrm>
        </p:spPr>
        <p:txBody>
          <a:bodyPr/>
          <a:lstStyle/>
          <a:p>
            <a:pPr marL="0" indent="0">
              <a:buNone/>
            </a:pPr>
            <a:r>
              <a:rPr lang="en-GB" b="1" dirty="0"/>
              <a:t>What are the gaps in the preparation and use of schemes of work?</a:t>
            </a:r>
          </a:p>
          <a:p>
            <a:r>
              <a:rPr lang="en-US" sz="3600" dirty="0"/>
              <a:t>Overreliance on online/commercial schemes of work. These do not address the needs and situation of the learner.</a:t>
            </a:r>
          </a:p>
          <a:p>
            <a:r>
              <a:rPr lang="en-US" sz="3600" dirty="0"/>
              <a:t>Failure to use recommended format</a:t>
            </a:r>
          </a:p>
          <a:p>
            <a:r>
              <a:rPr lang="en-US" sz="3600" dirty="0"/>
              <a:t>Not aligning them to the curriculum design. Instead many teachers indicate that they use course books and Teacher Guides for scheming purposes</a:t>
            </a:r>
          </a:p>
          <a:p>
            <a:r>
              <a:rPr lang="en-US" sz="3600" dirty="0"/>
              <a:t>Failure to quote the exact reference being used including title, page numbers, author, when using coursebooks and other reference materials</a:t>
            </a:r>
          </a:p>
          <a:p>
            <a:pPr marL="0" indent="0">
              <a:buNone/>
            </a:pPr>
            <a:endParaRPr lang="en-US" sz="3600" dirty="0"/>
          </a:p>
          <a:p>
            <a:endParaRPr lang="en-US" sz="3600"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14399"/>
          </a:xfrm>
        </p:spPr>
        <p:txBody>
          <a:bodyPr/>
          <a:lstStyle/>
          <a:p>
            <a:pPr algn="ctr"/>
            <a:r>
              <a:rPr lang="en-US" b="1" dirty="0"/>
              <a:t>Schemes of Work</a:t>
            </a:r>
          </a:p>
        </p:txBody>
      </p:sp>
      <p:sp>
        <p:nvSpPr>
          <p:cNvPr id="3" name="Content Placeholder 2"/>
          <p:cNvSpPr>
            <a:spLocks noGrp="1"/>
          </p:cNvSpPr>
          <p:nvPr>
            <p:ph idx="1"/>
          </p:nvPr>
        </p:nvSpPr>
        <p:spPr>
          <a:xfrm>
            <a:off x="173620" y="914400"/>
            <a:ext cx="12018380" cy="5262563"/>
          </a:xfrm>
        </p:spPr>
        <p:txBody>
          <a:bodyPr/>
          <a:lstStyle/>
          <a:p>
            <a:pPr marL="0" indent="0">
              <a:buNone/>
            </a:pPr>
            <a:r>
              <a:rPr lang="en-US" sz="3600" b="1" dirty="0"/>
              <a:t>Gaps </a:t>
            </a:r>
            <a:r>
              <a:rPr lang="en-US" sz="3600" b="1" dirty="0" err="1"/>
              <a:t>Cont</a:t>
            </a:r>
            <a:r>
              <a:rPr lang="en-US" sz="3600" b="1" dirty="0"/>
              <a:t>’</a:t>
            </a:r>
          </a:p>
          <a:p>
            <a:r>
              <a:rPr lang="en-US" sz="3600" dirty="0"/>
              <a:t>Stating lesson specific learning outcome using sub strand instead of lesson.</a:t>
            </a:r>
          </a:p>
          <a:p>
            <a:r>
              <a:rPr lang="en-US" sz="3600" dirty="0"/>
              <a:t>Reflection column is normally not updated. If so, it is sketchy with remarks such as done, covered which cannot inform teaching and improvement.</a:t>
            </a:r>
          </a:p>
          <a:p>
            <a:r>
              <a:rPr lang="en-US" sz="3600" dirty="0"/>
              <a:t>Failure to update schemes of work over a period of time</a:t>
            </a:r>
          </a:p>
          <a:p>
            <a:r>
              <a:rPr lang="en-US" sz="3600" dirty="0"/>
              <a:t>Not coherent, </a:t>
            </a:r>
          </a:p>
          <a:p>
            <a:endParaRPr lang="en-US" sz="3600" dirty="0"/>
          </a:p>
          <a:p>
            <a:endParaRPr lang="en-US" sz="3600" dirty="0"/>
          </a:p>
          <a:p>
            <a:pPr marL="0" indent="0">
              <a:buNone/>
            </a:pPr>
            <a:endParaRPr lang="en-US" sz="3600" dirty="0"/>
          </a:p>
          <a:p>
            <a:endParaRPr lang="en-US" sz="3600"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14399"/>
          </a:xfrm>
        </p:spPr>
        <p:txBody>
          <a:bodyPr/>
          <a:lstStyle/>
          <a:p>
            <a:pPr algn="ctr"/>
            <a:r>
              <a:rPr lang="en-US" b="1" dirty="0"/>
              <a:t>Schemes of Work</a:t>
            </a:r>
          </a:p>
        </p:txBody>
      </p:sp>
      <p:sp>
        <p:nvSpPr>
          <p:cNvPr id="3" name="Content Placeholder 2"/>
          <p:cNvSpPr>
            <a:spLocks noGrp="1"/>
          </p:cNvSpPr>
          <p:nvPr>
            <p:ph idx="1"/>
          </p:nvPr>
        </p:nvSpPr>
        <p:spPr>
          <a:xfrm>
            <a:off x="173620" y="914400"/>
            <a:ext cx="12018380" cy="5262563"/>
          </a:xfrm>
        </p:spPr>
        <p:txBody>
          <a:bodyPr/>
          <a:lstStyle/>
          <a:p>
            <a:pPr marL="0" indent="0">
              <a:buNone/>
            </a:pPr>
            <a:r>
              <a:rPr lang="en-US" sz="3600" b="1" dirty="0"/>
              <a:t>Gaps </a:t>
            </a:r>
            <a:r>
              <a:rPr lang="en-US" sz="3600" b="1" dirty="0" err="1"/>
              <a:t>Cont</a:t>
            </a:r>
            <a:r>
              <a:rPr lang="en-US" sz="3600" b="1" dirty="0"/>
              <a:t>’</a:t>
            </a:r>
          </a:p>
          <a:p>
            <a:r>
              <a:rPr lang="en-US" sz="3600" dirty="0"/>
              <a:t>There`s disregard of the three levels of the  learning outcomes. </a:t>
            </a:r>
            <a:r>
              <a:rPr lang="en-US" sz="3600" b="1" dirty="0"/>
              <a:t>Knowledge</a:t>
            </a:r>
            <a:r>
              <a:rPr lang="en-US" sz="3600" dirty="0"/>
              <a:t>( </a:t>
            </a:r>
            <a:r>
              <a:rPr lang="en-US" sz="3600" i="1" dirty="0"/>
              <a:t>Cognitive) , </a:t>
            </a:r>
            <a:r>
              <a:rPr lang="en-US" sz="3600" b="1" dirty="0"/>
              <a:t>Skill</a:t>
            </a:r>
            <a:r>
              <a:rPr lang="en-US" sz="3600" i="1" dirty="0"/>
              <a:t>(</a:t>
            </a:r>
            <a:r>
              <a:rPr lang="en-US" sz="3600" i="1" dirty="0" err="1"/>
              <a:t>Pyschomotor</a:t>
            </a:r>
            <a:r>
              <a:rPr lang="en-US" sz="3600" i="1" dirty="0"/>
              <a:t>) </a:t>
            </a:r>
            <a:r>
              <a:rPr lang="en-US" sz="3600" dirty="0"/>
              <a:t>and </a:t>
            </a:r>
            <a:r>
              <a:rPr lang="en-US" sz="3600" b="1" dirty="0"/>
              <a:t>Attitude</a:t>
            </a:r>
            <a:r>
              <a:rPr lang="en-US" sz="3600" dirty="0"/>
              <a:t>(</a:t>
            </a:r>
            <a:r>
              <a:rPr lang="en-US" sz="3600" i="1" dirty="0"/>
              <a:t>Affective</a:t>
            </a:r>
            <a:r>
              <a:rPr lang="en-US" sz="3600" dirty="0"/>
              <a:t>).Teachers tend to focus on mainly knowledge.</a:t>
            </a:r>
          </a:p>
          <a:p>
            <a:r>
              <a:rPr lang="en-US" sz="3600" dirty="0"/>
              <a:t>Some Lesson learning outcomes lack the context ; Must be well developed with a correct </a:t>
            </a:r>
            <a:r>
              <a:rPr lang="en-US" sz="3600" b="1" dirty="0"/>
              <a:t>Verb</a:t>
            </a:r>
            <a:r>
              <a:rPr lang="en-US" sz="3600" dirty="0"/>
              <a:t>(</a:t>
            </a:r>
            <a:r>
              <a:rPr lang="en-US" sz="3600" i="1" dirty="0"/>
              <a:t>HOTs</a:t>
            </a:r>
            <a:r>
              <a:rPr lang="en-US" sz="3600" dirty="0"/>
              <a:t>), </a:t>
            </a:r>
            <a:r>
              <a:rPr lang="en-US" sz="3600" b="1" dirty="0"/>
              <a:t>Object</a:t>
            </a:r>
            <a:r>
              <a:rPr lang="en-US" sz="3600" dirty="0"/>
              <a:t> and </a:t>
            </a:r>
            <a:r>
              <a:rPr lang="en-US" sz="3600" b="1" dirty="0"/>
              <a:t>Context</a:t>
            </a:r>
            <a:r>
              <a:rPr lang="en-US" sz="3600" dirty="0"/>
              <a:t>(</a:t>
            </a:r>
            <a:r>
              <a:rPr lang="en-US" sz="3600" i="1" dirty="0"/>
              <a:t>Why, How, Where, What, Who, When)</a:t>
            </a:r>
          </a:p>
          <a:p>
            <a:pPr marL="0" indent="0">
              <a:buNone/>
            </a:pPr>
            <a:endParaRPr lang="en-US" sz="3600" dirty="0"/>
          </a:p>
          <a:p>
            <a:endParaRPr lang="en-US" sz="3600"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5053"/>
          </a:xfrm>
        </p:spPr>
        <p:txBody>
          <a:bodyPr/>
          <a:lstStyle/>
          <a:p>
            <a:r>
              <a:rPr lang="en-US" sz="3200" b="1" dirty="0"/>
              <a:t>PILLARS OF TEACHERS’ PROFESSIONAL DOCUMENTS</a:t>
            </a:r>
          </a:p>
        </p:txBody>
      </p:sp>
      <p:sp>
        <p:nvSpPr>
          <p:cNvPr id="3" name="Content Placeholder 2"/>
          <p:cNvSpPr>
            <a:spLocks noGrp="1"/>
          </p:cNvSpPr>
          <p:nvPr>
            <p:ph idx="1"/>
          </p:nvPr>
        </p:nvSpPr>
        <p:spPr>
          <a:xfrm>
            <a:off x="838200" y="1140178"/>
            <a:ext cx="10515600" cy="4351338"/>
          </a:xfrm>
        </p:spPr>
        <p:txBody>
          <a:bodyPr/>
          <a:lstStyle/>
          <a:p>
            <a:r>
              <a:rPr lang="en-GB" b="1" dirty="0"/>
              <a:t>Coherence, alignment, customization, clarity, and reflection are the pillars of high-quality teachers professional  documents. </a:t>
            </a:r>
          </a:p>
          <a:p>
            <a:r>
              <a:rPr lang="en-GB" b="1" dirty="0"/>
              <a:t>A well-prepared professional document, such as a scheme of work, lesson plan, record of work, IEP, or lesson notes, should reflect organization, alignment with curriculum, and thoughtful customization. </a:t>
            </a:r>
          </a:p>
          <a:p>
            <a:r>
              <a:rPr lang="en-GB" b="1" dirty="0">
                <a:solidFill>
                  <a:srgbClr val="FF0000"/>
                </a:solidFill>
              </a:rPr>
              <a:t>1. Conformity to Prescribed Formats recommended by Curriculum Authorities</a:t>
            </a:r>
          </a:p>
          <a:p>
            <a:r>
              <a:rPr lang="en-GB" b="1" dirty="0">
                <a:solidFill>
                  <a:srgbClr val="FF0000"/>
                </a:solidFill>
              </a:rPr>
              <a:t>2. Curriculum Alignment</a:t>
            </a:r>
            <a:r>
              <a:rPr lang="en-GB" b="1" dirty="0"/>
              <a:t>: Content is unpacked from curriculum designs </a:t>
            </a:r>
          </a:p>
          <a:p>
            <a:endParaRPr lang="en-US" dirty="0"/>
          </a:p>
        </p:txBody>
      </p:sp>
    </p:spTree>
    <p:extLst>
      <p:ext uri="{BB962C8B-B14F-4D97-AF65-F5344CB8AC3E}">
        <p14:creationId xmlns:p14="http://schemas.microsoft.com/office/powerpoint/2010/main" val="162047239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222" y="666044"/>
            <a:ext cx="10665178" cy="5610578"/>
          </a:xfrm>
        </p:spPr>
        <p:txBody>
          <a:bodyPr/>
          <a:lstStyle/>
          <a:p>
            <a:pPr marL="0" indent="0">
              <a:buNone/>
            </a:pPr>
            <a:r>
              <a:rPr lang="en-GB" b="1" dirty="0" err="1"/>
              <a:t>Cont</a:t>
            </a:r>
            <a:r>
              <a:rPr lang="en-GB" b="1" dirty="0"/>
              <a:t>…….….</a:t>
            </a:r>
          </a:p>
          <a:p>
            <a:r>
              <a:rPr lang="en-GB" b="1" dirty="0">
                <a:solidFill>
                  <a:srgbClr val="FF0000"/>
                </a:solidFill>
              </a:rPr>
              <a:t>3. Customization to Learner Needs: </a:t>
            </a:r>
            <a:r>
              <a:rPr lang="en-GB" b="1" dirty="0"/>
              <a:t>Learning experiences and resources are tailored to suit the context and learner diversity.</a:t>
            </a:r>
          </a:p>
          <a:p>
            <a:r>
              <a:rPr lang="en-GB" b="1" dirty="0">
                <a:solidFill>
                  <a:srgbClr val="FF0000"/>
                </a:solidFill>
              </a:rPr>
              <a:t>4. Clarity and Specificity:  </a:t>
            </a:r>
            <a:r>
              <a:rPr lang="en-GB" b="1" dirty="0"/>
              <a:t>Clearly stated learning outcomes and key questions guide instruction. Logical flow in learning steps and activities across all documents.</a:t>
            </a:r>
          </a:p>
          <a:p>
            <a:r>
              <a:rPr lang="en-GB" b="1" dirty="0">
                <a:solidFill>
                  <a:srgbClr val="FF0000"/>
                </a:solidFill>
              </a:rPr>
              <a:t>5. Reflective Practice: </a:t>
            </a:r>
            <a:r>
              <a:rPr lang="en-GB" b="1" dirty="0"/>
              <a:t>Regular updates to reflection and remarks columns to inform instructional improvements and learner progress.</a:t>
            </a:r>
          </a:p>
          <a:p>
            <a:r>
              <a:rPr lang="en-GB" b="1" dirty="0">
                <a:solidFill>
                  <a:srgbClr val="FF0000"/>
                </a:solidFill>
              </a:rPr>
              <a:t>6. Currency and Relevance</a:t>
            </a:r>
            <a:r>
              <a:rPr lang="en-GB" b="1" dirty="0"/>
              <a:t>: Documents are current, reviewed regularly, and address real classroom needs. Lesson notes are derived directly from lesson plans and reflect </a:t>
            </a:r>
            <a:r>
              <a:rPr lang="en-GB" b="1" dirty="0" err="1"/>
              <a:t>recency</a:t>
            </a:r>
            <a:r>
              <a:rPr lang="en-GB" b="1" dirty="0"/>
              <a:t>..</a:t>
            </a:r>
          </a:p>
          <a:p>
            <a:endParaRPr lang="en-US" dirty="0"/>
          </a:p>
        </p:txBody>
      </p:sp>
    </p:spTree>
    <p:extLst>
      <p:ext uri="{BB962C8B-B14F-4D97-AF65-F5344CB8AC3E}">
        <p14:creationId xmlns:p14="http://schemas.microsoft.com/office/powerpoint/2010/main" val="126889324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756" y="365125"/>
            <a:ext cx="7699021" cy="696031"/>
          </a:xfrm>
        </p:spPr>
        <p:txBody>
          <a:bodyPr/>
          <a:lstStyle/>
          <a:p>
            <a:pPr algn="just"/>
            <a:r>
              <a:rPr lang="en-US" dirty="0"/>
              <a:t>MULTIPLE INTELLIGENCES</a:t>
            </a:r>
          </a:p>
        </p:txBody>
      </p:sp>
      <p:pic>
        <p:nvPicPr>
          <p:cNvPr id="4" name="Content Placeholder 3"/>
          <p:cNvPicPr>
            <a:picLocks noGrp="1" noChangeAspect="1"/>
          </p:cNvPicPr>
          <p:nvPr>
            <p:ph idx="1"/>
          </p:nvPr>
        </p:nvPicPr>
        <p:blipFill>
          <a:blip r:embed="rId3"/>
          <a:stretch>
            <a:fillRect/>
          </a:stretch>
        </p:blipFill>
        <p:spPr>
          <a:xfrm>
            <a:off x="5554133" y="1061156"/>
            <a:ext cx="6637867" cy="5796844"/>
          </a:xfrm>
          <a:prstGeom prst="rect">
            <a:avLst/>
          </a:prstGeom>
        </p:spPr>
      </p:pic>
      <p:sp>
        <p:nvSpPr>
          <p:cNvPr id="5" name="TextBox 4"/>
          <p:cNvSpPr txBox="1"/>
          <p:nvPr/>
        </p:nvSpPr>
        <p:spPr>
          <a:xfrm>
            <a:off x="0" y="1061156"/>
            <a:ext cx="5554133" cy="4876800"/>
          </a:xfrm>
          <a:prstGeom prst="rect">
            <a:avLst/>
          </a:prstGeom>
          <a:noFill/>
        </p:spPr>
        <p:txBody>
          <a:bodyPr wrap="square" rtlCol="0">
            <a:spAutoFit/>
          </a:bodyPr>
          <a:lstStyle/>
          <a:p>
            <a:pPr lvl="0" algn="just"/>
            <a:r>
              <a:rPr kumimoji="0" lang="en-GB" sz="2400" b="1" i="0" u="none" strike="noStrike" kern="1200" cap="none" spc="0" normalizeH="0" baseline="0" noProof="0" dirty="0">
                <a:ln>
                  <a:noFill/>
                </a:ln>
                <a:solidFill>
                  <a:prstClr val="black"/>
                </a:solidFill>
                <a:effectLst/>
                <a:uLnTx/>
                <a:uFillTx/>
                <a:latin typeface="Cambria"/>
                <a:ea typeface="+mn-ea"/>
                <a:cs typeface="+mn-cs"/>
              </a:rPr>
              <a:t>ACTIVITY</a:t>
            </a:r>
            <a:r>
              <a:rPr kumimoji="0" lang="en-GB" sz="2400" b="1" i="0" u="none" strike="noStrike" kern="1200" cap="none" spc="0" normalizeH="0" noProof="0" dirty="0">
                <a:ln>
                  <a:noFill/>
                </a:ln>
                <a:solidFill>
                  <a:prstClr val="black"/>
                </a:solidFill>
                <a:effectLst/>
                <a:uLnTx/>
                <a:uFillTx/>
                <a:latin typeface="Cambria"/>
                <a:ea typeface="+mn-ea"/>
                <a:cs typeface="+mn-cs"/>
              </a:rPr>
              <a:t> 2: ‘FINDING MY TWIN’</a:t>
            </a:r>
          </a:p>
          <a:p>
            <a:pPr lvl="0" algn="just"/>
            <a:endParaRPr kumimoji="0" lang="en-GB" sz="2400" b="1" i="0" u="none" strike="noStrike" kern="1200" cap="none" spc="0" normalizeH="0" noProof="0" dirty="0">
              <a:ln>
                <a:noFill/>
              </a:ln>
              <a:solidFill>
                <a:prstClr val="black"/>
              </a:solidFill>
              <a:effectLst/>
              <a:uLnTx/>
              <a:uFillTx/>
              <a:latin typeface="Cambria"/>
              <a:ea typeface="+mn-ea"/>
              <a:cs typeface="+mn-cs"/>
            </a:endParaRPr>
          </a:p>
          <a:p>
            <a:pPr lvl="0" algn="just"/>
            <a:r>
              <a:rPr lang="en-GB" sz="2400" b="1" dirty="0">
                <a:solidFill>
                  <a:prstClr val="black"/>
                </a:solidFill>
              </a:rPr>
              <a:t>“How do you learn best? Choose one:”</a:t>
            </a:r>
          </a:p>
          <a:p>
            <a:pPr marL="457200" lvl="0" indent="-457200" algn="just">
              <a:buAutoNum type="arabicPeriod"/>
            </a:pPr>
            <a:endParaRPr lang="en-GB" sz="2400" b="1" dirty="0">
              <a:solidFill>
                <a:prstClr val="black"/>
              </a:solidFill>
            </a:endParaRPr>
          </a:p>
          <a:p>
            <a:pPr marL="457200" lvl="0" indent="-457200" algn="just">
              <a:buAutoNum type="arabicPeriod"/>
            </a:pPr>
            <a:r>
              <a:rPr lang="en-GB" sz="2400" dirty="0">
                <a:solidFill>
                  <a:prstClr val="black"/>
                </a:solidFill>
              </a:rPr>
              <a:t>Watching/seeing (Visual)</a:t>
            </a:r>
          </a:p>
          <a:p>
            <a:pPr marL="457200" lvl="0" indent="-457200" algn="just">
              <a:buAutoNum type="arabicPeriod"/>
            </a:pPr>
            <a:endParaRPr lang="en-GB" sz="2400" dirty="0">
              <a:solidFill>
                <a:prstClr val="black"/>
              </a:solidFill>
            </a:endParaRPr>
          </a:p>
          <a:p>
            <a:pPr marL="457200" lvl="0" indent="-457200" algn="just">
              <a:buAutoNum type="arabicPeriod"/>
            </a:pPr>
            <a:r>
              <a:rPr lang="en-GB" sz="2400" dirty="0">
                <a:solidFill>
                  <a:prstClr val="black"/>
                </a:solidFill>
              </a:rPr>
              <a:t>Listening (Auditory)</a:t>
            </a:r>
          </a:p>
          <a:p>
            <a:pPr marL="457200" lvl="0" indent="-457200" algn="just">
              <a:buAutoNum type="arabicPeriod"/>
            </a:pPr>
            <a:endParaRPr lang="en-GB" sz="2400" dirty="0">
              <a:solidFill>
                <a:prstClr val="black"/>
              </a:solidFill>
            </a:endParaRPr>
          </a:p>
          <a:p>
            <a:pPr marL="457200" lvl="0" indent="-457200" algn="just">
              <a:buAutoNum type="arabicPeriod"/>
            </a:pPr>
            <a:r>
              <a:rPr lang="en-GB" sz="2400" dirty="0">
                <a:solidFill>
                  <a:prstClr val="black"/>
                </a:solidFill>
              </a:rPr>
              <a:t>Doing/acting (</a:t>
            </a:r>
            <a:r>
              <a:rPr lang="en-GB" sz="2400" dirty="0" err="1">
                <a:solidFill>
                  <a:prstClr val="black"/>
                </a:solidFill>
              </a:rPr>
              <a:t>Kinesthetic</a:t>
            </a:r>
            <a:r>
              <a:rPr lang="en-GB" sz="2400" dirty="0">
                <a:solidFill>
                  <a:prstClr val="black"/>
                </a:solidFill>
              </a:rPr>
              <a:t>)</a:t>
            </a:r>
          </a:p>
          <a:p>
            <a:pPr marL="457200" lvl="0" indent="-457200" algn="just">
              <a:buAutoNum type="arabicPeriod"/>
            </a:pPr>
            <a:endParaRPr lang="en-GB" sz="2400" dirty="0">
              <a:solidFill>
                <a:prstClr val="black"/>
              </a:solidFill>
            </a:endParaRPr>
          </a:p>
          <a:p>
            <a:pPr marL="457200" lvl="0" indent="-457200" algn="just">
              <a:buAutoNum type="arabicPeriod"/>
            </a:pPr>
            <a:r>
              <a:rPr lang="en-GB" sz="2400" dirty="0">
                <a:solidFill>
                  <a:prstClr val="black"/>
                </a:solidFill>
              </a:rPr>
              <a:t>Reading/Writing (Text-based)</a:t>
            </a:r>
          </a:p>
          <a:p>
            <a:pPr marL="457200" lvl="0" indent="-457200" algn="just">
              <a:buAutoNum type="arabicPeriod"/>
            </a:pPr>
            <a:endParaRPr kumimoji="0" lang="en-GB" sz="2400" b="1" i="0" u="none" strike="noStrike" kern="1200" cap="none" spc="0" normalizeH="0" noProof="0" dirty="0">
              <a:ln>
                <a:noFill/>
              </a:ln>
              <a:solidFill>
                <a:prstClr val="black"/>
              </a:solidFill>
              <a:effectLst/>
              <a:uLnTx/>
              <a:uFillTx/>
              <a:latin typeface="Cambria"/>
              <a:ea typeface="+mn-ea"/>
              <a:cs typeface="+mn-cs"/>
            </a:endParaRPr>
          </a:p>
          <a:p>
            <a:pPr lvl="0" algn="just"/>
            <a:r>
              <a:rPr kumimoji="0" lang="en-GB" sz="2400" b="1" i="0" u="none" strike="noStrike" kern="1200" cap="none" spc="0" normalizeH="0" noProof="0" dirty="0">
                <a:ln>
                  <a:noFill/>
                </a:ln>
                <a:solidFill>
                  <a:prstClr val="black"/>
                </a:solidFill>
                <a:effectLst/>
                <a:uLnTx/>
                <a:uFillTx/>
                <a:latin typeface="Cambria"/>
                <a:ea typeface="+mn-ea"/>
                <a:cs typeface="+mn-cs"/>
              </a:rPr>
              <a:t> </a:t>
            </a:r>
            <a:r>
              <a:rPr kumimoji="0" lang="en-GB" sz="2400" b="1" i="0" u="none" strike="noStrike" kern="1200" cap="none" spc="0" normalizeH="0" noProof="0" dirty="0">
                <a:ln>
                  <a:noFill/>
                </a:ln>
                <a:solidFill>
                  <a:srgbClr val="FF0000"/>
                </a:solidFill>
                <a:effectLst/>
                <a:uLnTx/>
                <a:uFillTx/>
                <a:latin typeface="Cambria"/>
              </a:rPr>
              <a:t>(</a:t>
            </a:r>
            <a:r>
              <a:rPr lang="en-GB" sz="2400" b="1" dirty="0">
                <a:solidFill>
                  <a:srgbClr val="FF0000"/>
                </a:solidFill>
                <a:latin typeface="Cambria"/>
              </a:rPr>
              <a:t>VARK )</a:t>
            </a:r>
            <a:endParaRPr kumimoji="0" lang="en-GB" sz="2400" b="1" i="0" u="none" strike="noStrike" kern="1200" cap="none" spc="0" normalizeH="0" baseline="0" noProof="0" dirty="0">
              <a:ln>
                <a:noFill/>
              </a:ln>
              <a:solidFill>
                <a:srgbClr val="FF0000"/>
              </a:solidFill>
              <a:effectLst/>
              <a:uLnTx/>
              <a:uFillTx/>
              <a:latin typeface="Cambria"/>
            </a:endParaRPr>
          </a:p>
        </p:txBody>
      </p:sp>
    </p:spTree>
    <p:extLst>
      <p:ext uri="{BB962C8B-B14F-4D97-AF65-F5344CB8AC3E}">
        <p14:creationId xmlns:p14="http://schemas.microsoft.com/office/powerpoint/2010/main" val="313617148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361244"/>
            <a:ext cx="11150600" cy="6175024"/>
          </a:xfrm>
        </p:spPr>
        <p:txBody>
          <a:bodyPr/>
          <a:lstStyle/>
          <a:p>
            <a:endParaRPr lang="en-GB" sz="2000" dirty="0"/>
          </a:p>
          <a:p>
            <a:r>
              <a:rPr lang="en-GB" sz="2400" b="1" dirty="0"/>
              <a:t>Aim to integrate at least 3 different learning styles per lesson </a:t>
            </a:r>
          </a:p>
          <a:p>
            <a:pPr marL="0" indent="0">
              <a:buNone/>
            </a:pPr>
            <a:r>
              <a:rPr lang="en-GB" sz="2400" b="1" dirty="0"/>
              <a:t>(e.g., visual, auditory, reading/writing) and or kinaesthetic )Also use any other from Multiple Intelligence model.</a:t>
            </a:r>
          </a:p>
          <a:p>
            <a:r>
              <a:rPr lang="en-GB" sz="2400" b="1" dirty="0"/>
              <a:t>Use differentiated instruction to vary strategies across lessons or activities</a:t>
            </a:r>
          </a:p>
          <a:p>
            <a:r>
              <a:rPr lang="en-GB" sz="2400" b="1" dirty="0"/>
              <a:t>Consider learner context, ability levels, and content type.</a:t>
            </a:r>
          </a:p>
          <a:p>
            <a:r>
              <a:rPr lang="en-GB" sz="2400" b="1" u="sng" dirty="0">
                <a:solidFill>
                  <a:srgbClr val="00B0F0"/>
                </a:solidFill>
              </a:rPr>
              <a:t>Example</a:t>
            </a:r>
            <a:r>
              <a:rPr lang="en-GB" sz="2400" b="1" u="sng" dirty="0"/>
              <a:t> </a:t>
            </a:r>
            <a:r>
              <a:rPr lang="en-GB" sz="2400" b="1" dirty="0">
                <a:solidFill>
                  <a:srgbClr val="C00000"/>
                </a:solidFill>
              </a:rPr>
              <a:t>(Lesson on Soil Types in Agriculture):</a:t>
            </a:r>
          </a:p>
          <a:p>
            <a:pPr marL="0" indent="0">
              <a:buNone/>
            </a:pPr>
            <a:r>
              <a:rPr lang="en-GB" sz="2400" b="1" dirty="0">
                <a:solidFill>
                  <a:srgbClr val="00B0F0"/>
                </a:solidFill>
              </a:rPr>
              <a:t>Visual</a:t>
            </a:r>
            <a:r>
              <a:rPr lang="en-GB" sz="2400" b="1" dirty="0"/>
              <a:t>: Show pictures or diagrams of different soil types</a:t>
            </a:r>
          </a:p>
          <a:p>
            <a:pPr marL="0" indent="0">
              <a:buNone/>
            </a:pPr>
            <a:r>
              <a:rPr lang="en-GB" sz="2400" b="1" dirty="0">
                <a:solidFill>
                  <a:srgbClr val="00B0F0"/>
                </a:solidFill>
              </a:rPr>
              <a:t>Auditory</a:t>
            </a:r>
            <a:r>
              <a:rPr lang="en-GB" sz="2400" b="1" dirty="0"/>
              <a:t>: Explain with a story or involve learners in a discussion or make presentations from project work</a:t>
            </a:r>
          </a:p>
          <a:p>
            <a:pPr marL="0" indent="0">
              <a:buNone/>
            </a:pPr>
            <a:r>
              <a:rPr lang="en-GB" sz="2400" b="1" dirty="0">
                <a:solidFill>
                  <a:srgbClr val="00B0F0"/>
                </a:solidFill>
              </a:rPr>
              <a:t>Kinaesthetic</a:t>
            </a:r>
            <a:r>
              <a:rPr lang="en-GB" sz="2400" b="1" dirty="0"/>
              <a:t>: Let learners touch and classify actual soil samples</a:t>
            </a:r>
          </a:p>
          <a:p>
            <a:pPr marL="0" indent="0">
              <a:buNone/>
            </a:pPr>
            <a:r>
              <a:rPr lang="en-GB" sz="2400" b="1" dirty="0">
                <a:solidFill>
                  <a:srgbClr val="00B0F0"/>
                </a:solidFill>
              </a:rPr>
              <a:t>Read/Write: </a:t>
            </a:r>
            <a:r>
              <a:rPr lang="en-GB" sz="2400" b="1" dirty="0"/>
              <a:t>Search  for information, write a report or complete a reflection sheet</a:t>
            </a:r>
          </a:p>
          <a:p>
            <a:pPr marL="0" indent="0">
              <a:buNone/>
            </a:pPr>
            <a:endParaRPr lang="en-GB" dirty="0"/>
          </a:p>
          <a:p>
            <a:pPr marL="0" indent="0">
              <a:buNone/>
            </a:pPr>
            <a:endParaRPr lang="en-US" dirty="0"/>
          </a:p>
        </p:txBody>
      </p:sp>
    </p:spTree>
    <p:extLst>
      <p:ext uri="{BB962C8B-B14F-4D97-AF65-F5344CB8AC3E}">
        <p14:creationId xmlns:p14="http://schemas.microsoft.com/office/powerpoint/2010/main" val="329474625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72272065"/>
              </p:ext>
            </p:extLst>
          </p:nvPr>
        </p:nvGraphicFramePr>
        <p:xfrm>
          <a:off x="80962" y="1650998"/>
          <a:ext cx="12043305" cy="4224871"/>
        </p:xfrm>
        <a:graphic>
          <a:graphicData uri="http://schemas.openxmlformats.org/drawingml/2006/table">
            <a:tbl>
              <a:tblPr firstRow="1" firstCol="1" bandRow="1">
                <a:tableStyleId>{5C22544A-7EE6-4342-B048-85BDC9FD1C3A}</a:tableStyleId>
              </a:tblPr>
              <a:tblGrid>
                <a:gridCol w="2859917">
                  <a:extLst>
                    <a:ext uri="{9D8B030D-6E8A-4147-A177-3AD203B41FA5}">
                      <a16:colId xmlns:a16="http://schemas.microsoft.com/office/drawing/2014/main" val="20000"/>
                    </a:ext>
                  </a:extLst>
                </a:gridCol>
                <a:gridCol w="9183388">
                  <a:extLst>
                    <a:ext uri="{9D8B030D-6E8A-4147-A177-3AD203B41FA5}">
                      <a16:colId xmlns:a16="http://schemas.microsoft.com/office/drawing/2014/main" val="20001"/>
                    </a:ext>
                  </a:extLst>
                </a:gridCol>
              </a:tblGrid>
              <a:tr h="603553">
                <a:tc gridSpan="2">
                  <a:txBody>
                    <a:bodyPr/>
                    <a:lstStyle/>
                    <a:p>
                      <a:pPr marL="0" marR="0">
                        <a:lnSpc>
                          <a:spcPct val="150000"/>
                        </a:lnSpc>
                        <a:spcBef>
                          <a:spcPts val="0"/>
                        </a:spcBef>
                        <a:spcAft>
                          <a:spcPts val="0"/>
                        </a:spcAft>
                      </a:pPr>
                      <a:r>
                        <a:rPr lang="en-GB" sz="1600" dirty="0">
                          <a:effectLst/>
                        </a:rPr>
                        <a:t>Administrative Details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603553">
                <a:tc>
                  <a:txBody>
                    <a:bodyPr/>
                    <a:lstStyle/>
                    <a:p>
                      <a:pPr marL="0" marR="0">
                        <a:lnSpc>
                          <a:spcPct val="150000"/>
                        </a:lnSpc>
                        <a:spcBef>
                          <a:spcPts val="0"/>
                        </a:spcBef>
                        <a:spcAft>
                          <a:spcPts val="0"/>
                        </a:spcAft>
                      </a:pPr>
                      <a:r>
                        <a:rPr lang="en-GB" sz="1600">
                          <a:effectLst/>
                        </a:rPr>
                        <a:t>School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600">
                          <a:effectLst/>
                        </a:rPr>
                        <a:t>Hope Junior School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03553">
                <a:tc>
                  <a:txBody>
                    <a:bodyPr/>
                    <a:lstStyle/>
                    <a:p>
                      <a:pPr marL="0" marR="0">
                        <a:lnSpc>
                          <a:spcPct val="150000"/>
                        </a:lnSpc>
                        <a:spcBef>
                          <a:spcPts val="0"/>
                        </a:spcBef>
                        <a:spcAft>
                          <a:spcPts val="0"/>
                        </a:spcAft>
                      </a:pPr>
                      <a:r>
                        <a:rPr lang="en-GB" sz="1600">
                          <a:effectLst/>
                        </a:rPr>
                        <a:t>Year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600">
                          <a:effectLst/>
                        </a:rPr>
                        <a:t>2025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03553">
                <a:tc>
                  <a:txBody>
                    <a:bodyPr/>
                    <a:lstStyle/>
                    <a:p>
                      <a:pPr marL="0" marR="0">
                        <a:lnSpc>
                          <a:spcPct val="150000"/>
                        </a:lnSpc>
                        <a:spcBef>
                          <a:spcPts val="0"/>
                        </a:spcBef>
                        <a:spcAft>
                          <a:spcPts val="0"/>
                        </a:spcAft>
                      </a:pPr>
                      <a:r>
                        <a:rPr lang="en-GB" sz="1600">
                          <a:effectLst/>
                        </a:rPr>
                        <a:t>Term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600" dirty="0">
                          <a:effectLst/>
                        </a:rPr>
                        <a:t>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03553">
                <a:tc>
                  <a:txBody>
                    <a:bodyPr/>
                    <a:lstStyle/>
                    <a:p>
                      <a:pPr marL="0" marR="0">
                        <a:lnSpc>
                          <a:spcPct val="150000"/>
                        </a:lnSpc>
                        <a:spcBef>
                          <a:spcPts val="0"/>
                        </a:spcBef>
                        <a:spcAft>
                          <a:spcPts val="0"/>
                        </a:spcAft>
                      </a:pPr>
                      <a:r>
                        <a:rPr lang="en-GB" sz="1600">
                          <a:effectLst/>
                        </a:rPr>
                        <a:t>Subject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English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03553">
                <a:tc>
                  <a:txBody>
                    <a:bodyPr/>
                    <a:lstStyle/>
                    <a:p>
                      <a:pPr marL="0" marR="0">
                        <a:lnSpc>
                          <a:spcPct val="150000"/>
                        </a:lnSpc>
                        <a:spcBef>
                          <a:spcPts val="0"/>
                        </a:spcBef>
                        <a:spcAft>
                          <a:spcPts val="0"/>
                        </a:spcAft>
                      </a:pPr>
                      <a:r>
                        <a:rPr lang="en-GB" sz="1600">
                          <a:effectLst/>
                        </a:rPr>
                        <a:t>Grade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10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603553">
                <a:tc>
                  <a:txBody>
                    <a:bodyPr/>
                    <a:lstStyle/>
                    <a:p>
                      <a:pPr marL="0" marR="0">
                        <a:lnSpc>
                          <a:spcPct val="150000"/>
                        </a:lnSpc>
                        <a:spcBef>
                          <a:spcPts val="0"/>
                        </a:spcBef>
                        <a:spcAft>
                          <a:spcPts val="0"/>
                        </a:spcAft>
                      </a:pPr>
                      <a:r>
                        <a:rPr lang="en-GB" sz="1600">
                          <a:effectLst/>
                        </a:rPr>
                        <a:t>Teacher’s Details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Name: Mercy  Kemi                                          TSC. No: 000111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
        <p:nvSpPr>
          <p:cNvPr id="6" name="Rectangle 2"/>
          <p:cNvSpPr>
            <a:spLocks noChangeArrowheads="1"/>
          </p:cNvSpPr>
          <p:nvPr/>
        </p:nvSpPr>
        <p:spPr bwMode="auto">
          <a:xfrm>
            <a:off x="0" y="1197517"/>
            <a:ext cx="3747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Sample Scheme of Work for English</a:t>
            </a:r>
            <a:endParaRPr kumimoji="0" lang="en-GB"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827789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54005194"/>
              </p:ext>
            </p:extLst>
          </p:nvPr>
        </p:nvGraphicFramePr>
        <p:xfrm>
          <a:off x="79021" y="950754"/>
          <a:ext cx="12028311" cy="5264207"/>
        </p:xfrm>
        <a:graphic>
          <a:graphicData uri="http://schemas.openxmlformats.org/drawingml/2006/table">
            <a:tbl>
              <a:tblPr firstRow="1" firstCol="1" bandRow="1">
                <a:tableStyleId>{5C22544A-7EE6-4342-B048-85BDC9FD1C3A}</a:tableStyleId>
              </a:tblPr>
              <a:tblGrid>
                <a:gridCol w="375064">
                  <a:extLst>
                    <a:ext uri="{9D8B030D-6E8A-4147-A177-3AD203B41FA5}">
                      <a16:colId xmlns:a16="http://schemas.microsoft.com/office/drawing/2014/main" val="20000"/>
                    </a:ext>
                  </a:extLst>
                </a:gridCol>
                <a:gridCol w="523178">
                  <a:extLst>
                    <a:ext uri="{9D8B030D-6E8A-4147-A177-3AD203B41FA5}">
                      <a16:colId xmlns:a16="http://schemas.microsoft.com/office/drawing/2014/main" val="20001"/>
                    </a:ext>
                  </a:extLst>
                </a:gridCol>
                <a:gridCol w="752516">
                  <a:extLst>
                    <a:ext uri="{9D8B030D-6E8A-4147-A177-3AD203B41FA5}">
                      <a16:colId xmlns:a16="http://schemas.microsoft.com/office/drawing/2014/main" val="20002"/>
                    </a:ext>
                  </a:extLst>
                </a:gridCol>
                <a:gridCol w="1199246">
                  <a:extLst>
                    <a:ext uri="{9D8B030D-6E8A-4147-A177-3AD203B41FA5}">
                      <a16:colId xmlns:a16="http://schemas.microsoft.com/office/drawing/2014/main" val="20003"/>
                    </a:ext>
                  </a:extLst>
                </a:gridCol>
                <a:gridCol w="2202600">
                  <a:extLst>
                    <a:ext uri="{9D8B030D-6E8A-4147-A177-3AD203B41FA5}">
                      <a16:colId xmlns:a16="http://schemas.microsoft.com/office/drawing/2014/main" val="20004"/>
                    </a:ext>
                  </a:extLst>
                </a:gridCol>
                <a:gridCol w="1734370">
                  <a:extLst>
                    <a:ext uri="{9D8B030D-6E8A-4147-A177-3AD203B41FA5}">
                      <a16:colId xmlns:a16="http://schemas.microsoft.com/office/drawing/2014/main" val="20005"/>
                    </a:ext>
                  </a:extLst>
                </a:gridCol>
                <a:gridCol w="1299582">
                  <a:extLst>
                    <a:ext uri="{9D8B030D-6E8A-4147-A177-3AD203B41FA5}">
                      <a16:colId xmlns:a16="http://schemas.microsoft.com/office/drawing/2014/main" val="20006"/>
                    </a:ext>
                  </a:extLst>
                </a:gridCol>
                <a:gridCol w="1213581">
                  <a:extLst>
                    <a:ext uri="{9D8B030D-6E8A-4147-A177-3AD203B41FA5}">
                      <a16:colId xmlns:a16="http://schemas.microsoft.com/office/drawing/2014/main" val="20007"/>
                    </a:ext>
                  </a:extLst>
                </a:gridCol>
                <a:gridCol w="927598">
                  <a:extLst>
                    <a:ext uri="{9D8B030D-6E8A-4147-A177-3AD203B41FA5}">
                      <a16:colId xmlns:a16="http://schemas.microsoft.com/office/drawing/2014/main" val="20008"/>
                    </a:ext>
                  </a:extLst>
                </a:gridCol>
                <a:gridCol w="1800576">
                  <a:extLst>
                    <a:ext uri="{9D8B030D-6E8A-4147-A177-3AD203B41FA5}">
                      <a16:colId xmlns:a16="http://schemas.microsoft.com/office/drawing/2014/main" val="20009"/>
                    </a:ext>
                  </a:extLst>
                </a:gridCol>
              </a:tblGrid>
              <a:tr h="578692">
                <a:tc>
                  <a:txBody>
                    <a:bodyPr/>
                    <a:lstStyle/>
                    <a:p>
                      <a:pPr marL="0" marR="0">
                        <a:lnSpc>
                          <a:spcPct val="150000"/>
                        </a:lnSpc>
                        <a:spcBef>
                          <a:spcPts val="0"/>
                        </a:spcBef>
                        <a:spcAft>
                          <a:spcPts val="0"/>
                        </a:spcAft>
                      </a:pPr>
                      <a:r>
                        <a:rPr lang="en-GB" sz="1400" kern="100">
                          <a:effectLst/>
                        </a:rPr>
                        <a:t>Wk.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Lsn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Strand</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Sub strand</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dirty="0">
                          <a:effectLst/>
                        </a:rPr>
                        <a:t>Lesson Learning </a:t>
                      </a:r>
                    </a:p>
                    <a:p>
                      <a:pPr marL="0" marR="0">
                        <a:lnSpc>
                          <a:spcPct val="150000"/>
                        </a:lnSpc>
                        <a:spcBef>
                          <a:spcPts val="0"/>
                        </a:spcBef>
                        <a:spcAft>
                          <a:spcPts val="0"/>
                        </a:spcAft>
                      </a:pPr>
                      <a:r>
                        <a:rPr lang="en-GB" sz="1400" kern="100" dirty="0">
                          <a:effectLst/>
                        </a:rPr>
                        <a:t>Out comes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Learning Experiences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dirty="0">
                          <a:effectLst/>
                        </a:rPr>
                        <a:t>Key Inquiry Question(s)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Learning Resources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a:effectLst/>
                        </a:rPr>
                        <a:t>Assessment Methods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400" kern="100" dirty="0">
                          <a:effectLst/>
                        </a:rPr>
                        <a:t>Reflection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extLst>
                  <a:ext uri="{0D108BD9-81ED-4DB2-BD59-A6C34878D82A}">
                    <a16:rowId xmlns:a16="http://schemas.microsoft.com/office/drawing/2014/main" val="10000"/>
                  </a:ext>
                </a:extLst>
              </a:tr>
              <a:tr h="4304087">
                <a:tc>
                  <a:txBody>
                    <a:bodyPr/>
                    <a:lstStyle/>
                    <a:p>
                      <a:pPr marL="0" marR="0">
                        <a:lnSpc>
                          <a:spcPct val="150000"/>
                        </a:lnSpc>
                        <a:spcBef>
                          <a:spcPts val="0"/>
                        </a:spcBef>
                        <a:spcAft>
                          <a:spcPts val="0"/>
                        </a:spcAft>
                      </a:pPr>
                      <a:r>
                        <a:rPr lang="en-GB" sz="1200" kern="100" dirty="0">
                          <a:effectLst/>
                        </a:rPr>
                        <a:t>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200" kern="100" dirty="0">
                          <a:effectLst/>
                        </a:rPr>
                        <a:t>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200" kern="100" dirty="0">
                          <a:effectLst/>
                        </a:rPr>
                        <a:t>Listening and speaking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1200" kern="100" dirty="0">
                          <a:effectLst/>
                        </a:rPr>
                        <a:t>Oral presentations: Oral Narratives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a:lnSpc>
                          <a:spcPct val="150000"/>
                        </a:lnSpc>
                        <a:spcAft>
                          <a:spcPts val="0"/>
                        </a:spcAft>
                      </a:pPr>
                      <a:r>
                        <a:rPr lang="en-GB" sz="1200" kern="100" dirty="0">
                          <a:effectLst/>
                        </a:rPr>
                        <a:t>By the end of the lesson, the learner should be able to:</a:t>
                      </a:r>
                      <a:endParaRPr lang="en-US" sz="1200" kern="100" dirty="0">
                        <a:effectLst/>
                      </a:endParaRPr>
                    </a:p>
                    <a:p>
                      <a:pPr marL="342900" marR="0" lvl="0" indent="-342900">
                        <a:lnSpc>
                          <a:spcPct val="150000"/>
                        </a:lnSpc>
                        <a:spcBef>
                          <a:spcPts val="0"/>
                        </a:spcBef>
                        <a:spcAft>
                          <a:spcPts val="0"/>
                        </a:spcAft>
                        <a:buFont typeface="+mj-lt"/>
                        <a:buAutoNum type="alphaLcParenR"/>
                        <a:tabLst>
                          <a:tab pos="228600" algn="l"/>
                        </a:tabLst>
                      </a:pPr>
                      <a:r>
                        <a:rPr lang="en-GB" sz="1200" kern="100" dirty="0">
                          <a:effectLst/>
                        </a:rPr>
                        <a:t>outline the oral narrative performance techniques for effective delivery,</a:t>
                      </a:r>
                      <a:endParaRPr lang="en-US" sz="1200" kern="100" dirty="0">
                        <a:effectLst/>
                      </a:endParaRPr>
                    </a:p>
                    <a:p>
                      <a:pPr marL="342900" marR="0" lvl="0" indent="-342900">
                        <a:lnSpc>
                          <a:spcPct val="150000"/>
                        </a:lnSpc>
                        <a:spcBef>
                          <a:spcPts val="0"/>
                        </a:spcBef>
                        <a:spcAft>
                          <a:spcPts val="0"/>
                        </a:spcAft>
                        <a:buFont typeface="+mj-lt"/>
                        <a:buAutoNum type="alphaLcParenR"/>
                        <a:tabLst>
                          <a:tab pos="228600" algn="l"/>
                        </a:tabLst>
                      </a:pPr>
                      <a:r>
                        <a:rPr lang="en-GB" sz="1200" kern="100" dirty="0">
                          <a:effectLst/>
                        </a:rPr>
                        <a:t>use oral narrative techniques during the performance,</a:t>
                      </a:r>
                      <a:endParaRPr lang="en-US" sz="1200" kern="100" dirty="0">
                        <a:effectLst/>
                      </a:endParaRPr>
                    </a:p>
                    <a:p>
                      <a:pPr marL="342900" marR="0" lvl="0" indent="-342900">
                        <a:lnSpc>
                          <a:spcPct val="150000"/>
                        </a:lnSpc>
                        <a:spcBef>
                          <a:spcPts val="0"/>
                        </a:spcBef>
                        <a:spcAft>
                          <a:spcPts val="0"/>
                        </a:spcAft>
                        <a:buFont typeface="+mj-lt"/>
                        <a:buAutoNum type="alphaLcParenR"/>
                        <a:tabLst>
                          <a:tab pos="228600" algn="l"/>
                        </a:tabLst>
                      </a:pPr>
                      <a:r>
                        <a:rPr lang="en-GB" sz="1200" kern="100" dirty="0">
                          <a:effectLst/>
                        </a:rPr>
                        <a:t>appreciate the importance of performance techniques in the successful delivery of oral material.</a:t>
                      </a:r>
                    </a:p>
                  </a:txBody>
                  <a:tcPr marL="62342" marR="62342" marT="0" marB="0"/>
                </a:tc>
                <a:tc>
                  <a:txBody>
                    <a:bodyPr/>
                    <a:lstStyle/>
                    <a:p>
                      <a:pPr>
                        <a:lnSpc>
                          <a:spcPct val="150000"/>
                        </a:lnSpc>
                        <a:spcAft>
                          <a:spcPts val="0"/>
                        </a:spcAft>
                      </a:pPr>
                      <a:r>
                        <a:rPr lang="en-GB" sz="1200" kern="100" dirty="0">
                          <a:effectLst/>
                        </a:rPr>
                        <a:t>The learner is guided to:</a:t>
                      </a:r>
                      <a:endParaRPr lang="en-US" sz="1200" kern="100" dirty="0">
                        <a:effectLst/>
                      </a:endParaRPr>
                    </a:p>
                    <a:p>
                      <a:pPr marL="342900" marR="0" lvl="0" indent="-342900">
                        <a:lnSpc>
                          <a:spcPct val="150000"/>
                        </a:lnSpc>
                        <a:spcBef>
                          <a:spcPts val="0"/>
                        </a:spcBef>
                        <a:spcAft>
                          <a:spcPts val="0"/>
                        </a:spcAft>
                        <a:buFont typeface="Symbol" panose="05050102010706020507" pitchFamily="18" charset="2"/>
                        <a:buChar char=""/>
                      </a:pPr>
                      <a:r>
                        <a:rPr lang="en-GB" sz="1200" kern="100" dirty="0">
                          <a:effectLst/>
                        </a:rPr>
                        <a:t>watch live or recorded oral performances of narratives as a class,</a:t>
                      </a:r>
                      <a:endParaRPr lang="en-US" sz="1200" kern="100" dirty="0">
                        <a:effectLst/>
                      </a:endParaRPr>
                    </a:p>
                    <a:p>
                      <a:pPr marL="342900" marR="0" lvl="0" indent="-342900">
                        <a:lnSpc>
                          <a:spcPct val="150000"/>
                        </a:lnSpc>
                        <a:spcBef>
                          <a:spcPts val="0"/>
                        </a:spcBef>
                        <a:spcAft>
                          <a:spcPts val="0"/>
                        </a:spcAft>
                        <a:buFont typeface="Symbol" panose="05050102010706020507" pitchFamily="18" charset="2"/>
                        <a:buChar char=""/>
                      </a:pPr>
                      <a:r>
                        <a:rPr lang="en-GB" sz="1200" kern="100" dirty="0">
                          <a:effectLst/>
                        </a:rPr>
                        <a:t>discuss the oral performance techniques in groups,</a:t>
                      </a:r>
                      <a:endParaRPr lang="en-US" sz="1200" kern="100" dirty="0">
                        <a:effectLst/>
                      </a:endParaRPr>
                    </a:p>
                    <a:p>
                      <a:pPr marL="342900" marR="0" lvl="0" indent="-342900">
                        <a:lnSpc>
                          <a:spcPct val="150000"/>
                        </a:lnSpc>
                        <a:spcBef>
                          <a:spcPts val="0"/>
                        </a:spcBef>
                        <a:spcAft>
                          <a:spcPts val="0"/>
                        </a:spcAft>
                        <a:buFont typeface="Symbol" panose="05050102010706020507" pitchFamily="18" charset="2"/>
                        <a:buChar char=""/>
                      </a:pPr>
                      <a:r>
                        <a:rPr lang="en-GB" sz="1200" kern="100" dirty="0">
                          <a:effectLst/>
                        </a:rPr>
                        <a:t>perform oral narratives in groups while peers watch, record and then give feedback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tc>
                  <a:txBody>
                    <a:bodyPr/>
                    <a:lstStyle/>
                    <a:p>
                      <a:pPr marL="103505" marR="0">
                        <a:lnSpc>
                          <a:spcPct val="150000"/>
                        </a:lnSpc>
                        <a:spcBef>
                          <a:spcPts val="0"/>
                        </a:spcBef>
                        <a:spcAft>
                          <a:spcPts val="0"/>
                        </a:spcAft>
                      </a:pPr>
                      <a:r>
                        <a:rPr lang="en-GB" sz="1200" kern="100" dirty="0">
                          <a:effectLst/>
                        </a:rPr>
                        <a:t>What do you enjoy during a storytelling session?</a:t>
                      </a:r>
                      <a:endParaRPr lang="en-US" sz="1200" kern="100" dirty="0">
                        <a:effectLst/>
                      </a:endParaRPr>
                    </a:p>
                    <a:p>
                      <a:pPr marL="103505" marR="0">
                        <a:lnSpc>
                          <a:spcPct val="150000"/>
                        </a:lnSpc>
                        <a:spcBef>
                          <a:spcPts val="0"/>
                        </a:spcBef>
                        <a:spcAft>
                          <a:spcPts val="0"/>
                        </a:spcAft>
                      </a:pPr>
                      <a:r>
                        <a:rPr lang="en-GB" sz="1200" kern="100" dirty="0">
                          <a:effectLst/>
                        </a:rPr>
                        <a:t> </a:t>
                      </a:r>
                      <a:endParaRPr lang="en-US" sz="1200" kern="100" dirty="0">
                        <a:effectLst/>
                      </a:endParaRPr>
                    </a:p>
                    <a:p>
                      <a:pPr marL="103505" marR="0">
                        <a:lnSpc>
                          <a:spcPct val="150000"/>
                        </a:lnSpc>
                        <a:spcBef>
                          <a:spcPts val="0"/>
                        </a:spcBef>
                        <a:spcAft>
                          <a:spcPts val="0"/>
                        </a:spcAft>
                      </a:pPr>
                      <a:r>
                        <a:rPr lang="en-GB" sz="1200" kern="100" dirty="0">
                          <a:effectLst/>
                        </a:rPr>
                        <a:t>How can you become a good storyteller?</a:t>
                      </a:r>
                      <a:endParaRPr lang="en-US" sz="1200" kern="100" dirty="0">
                        <a:effectLst/>
                      </a:endParaRPr>
                    </a:p>
                    <a:p>
                      <a:pPr marL="103505" marR="0">
                        <a:lnSpc>
                          <a:spcPct val="150000"/>
                        </a:lnSpc>
                        <a:spcBef>
                          <a:spcPts val="0"/>
                        </a:spcBef>
                        <a:spcAft>
                          <a:spcPts val="0"/>
                        </a:spcAft>
                      </a:pPr>
                      <a:r>
                        <a:rPr lang="en-GB" sz="1200" kern="100" dirty="0">
                          <a:effectLst/>
                        </a:rPr>
                        <a:t> </a:t>
                      </a:r>
                      <a:endParaRPr lang="en-US" sz="1200" kern="100" dirty="0">
                        <a:effectLst/>
                        <a:latin typeface="Calibri" panose="020F0502020204030204" pitchFamily="34" charset="0"/>
                        <a:cs typeface="Times New Roman" panose="02020603050405020304" pitchFamily="18" charset="0"/>
                      </a:endParaRPr>
                    </a:p>
                  </a:txBody>
                  <a:tcPr marL="62342" marR="62342" marT="0" marB="0"/>
                </a:tc>
                <a:tc>
                  <a:txBody>
                    <a:bodyPr/>
                    <a:lstStyle/>
                    <a:p>
                      <a:pPr>
                        <a:lnSpc>
                          <a:spcPct val="150000"/>
                        </a:lnSpc>
                        <a:spcAft>
                          <a:spcPts val="0"/>
                        </a:spcAft>
                      </a:pPr>
                      <a:r>
                        <a:rPr lang="en-GB" sz="1200" kern="100" dirty="0">
                          <a:effectLst/>
                        </a:rPr>
                        <a:t>-Smart</a:t>
                      </a:r>
                      <a:r>
                        <a:rPr lang="en-GB" sz="1200" kern="100" baseline="0" dirty="0">
                          <a:effectLst/>
                        </a:rPr>
                        <a:t> phone,  Radio, and desk top computer </a:t>
                      </a:r>
                      <a:r>
                        <a:rPr lang="en-GB" sz="1200" kern="100" dirty="0">
                          <a:effectLst/>
                        </a:rPr>
                        <a:t>with audio-visual recordings of narrations or dramatization of storytelling sessions,</a:t>
                      </a:r>
                    </a:p>
                    <a:p>
                      <a:pPr>
                        <a:lnSpc>
                          <a:spcPct val="150000"/>
                        </a:lnSpc>
                        <a:spcAft>
                          <a:spcPts val="0"/>
                        </a:spcAft>
                      </a:pPr>
                      <a:r>
                        <a:rPr lang="en-GB" sz="1200" kern="100" dirty="0">
                          <a:effectLst/>
                        </a:rPr>
                        <a:t>--resource persons</a:t>
                      </a:r>
                    </a:p>
                    <a:p>
                      <a:pPr>
                        <a:lnSpc>
                          <a:spcPct val="150000"/>
                        </a:lnSpc>
                        <a:spcAft>
                          <a:spcPts val="0"/>
                        </a:spcAft>
                      </a:pPr>
                      <a:r>
                        <a:rPr lang="en-GB" sz="1200" kern="100" dirty="0">
                          <a:effectLst/>
                          <a:latin typeface="Calibri" panose="020F0502020204030204" pitchFamily="34" charset="0"/>
                          <a:cs typeface="Times New Roman" panose="02020603050405020304" pitchFamily="18" charset="0"/>
                        </a:rPr>
                        <a:t>-</a:t>
                      </a:r>
                      <a:endParaRPr lang="en-US" sz="1200" kern="100" dirty="0">
                        <a:effectLst/>
                        <a:latin typeface="Calibri" panose="020F0502020204030204" pitchFamily="34" charset="0"/>
                        <a:cs typeface="Times New Roman" panose="02020603050405020304" pitchFamily="18" charset="0"/>
                      </a:endParaRPr>
                    </a:p>
                  </a:txBody>
                  <a:tcPr marL="62342" marR="62342" marT="0" marB="0"/>
                </a:tc>
                <a:tc>
                  <a:txBody>
                    <a:bodyPr/>
                    <a:lstStyle/>
                    <a:p>
                      <a:pPr>
                        <a:lnSpc>
                          <a:spcPct val="150000"/>
                        </a:lnSpc>
                        <a:spcAft>
                          <a:spcPts val="0"/>
                        </a:spcAft>
                      </a:pPr>
                      <a:r>
                        <a:rPr lang="en-GB" sz="1200" kern="100" dirty="0">
                          <a:effectLst/>
                        </a:rPr>
                        <a:t>observation</a:t>
                      </a:r>
                      <a:endParaRPr lang="en-US" sz="1200" kern="100" dirty="0">
                        <a:effectLst/>
                        <a:latin typeface="Calibri" panose="020F0502020204030204" pitchFamily="34" charset="0"/>
                        <a:cs typeface="Times New Roman" panose="02020603050405020304" pitchFamily="18" charset="0"/>
                      </a:endParaRPr>
                    </a:p>
                  </a:txBody>
                  <a:tcPr marL="62342" marR="62342" marT="0" marB="0"/>
                </a:tc>
                <a:tc>
                  <a:txBody>
                    <a:bodyPr/>
                    <a:lstStyle/>
                    <a:p>
                      <a:pPr marL="0" marR="0">
                        <a:lnSpc>
                          <a:spcPct val="150000"/>
                        </a:lnSpc>
                        <a:spcBef>
                          <a:spcPts val="0"/>
                        </a:spcBef>
                        <a:spcAft>
                          <a:spcPts val="0"/>
                        </a:spcAft>
                      </a:pPr>
                      <a:r>
                        <a:rPr lang="en-GB" sz="900" kern="100" dirty="0">
                          <a:effectLst/>
                          <a:latin typeface="Calibri" panose="020F0502020204030204" pitchFamily="34" charset="0"/>
                          <a:ea typeface="Calibri" panose="020F0502020204030204" pitchFamily="34" charset="0"/>
                          <a:cs typeface="Times New Roman" panose="02020603050405020304" pitchFamily="18" charset="0"/>
                        </a:rPr>
                        <a:t>The lesson was successful, with learners actively participating and demonstrating a good understanding of oral narrative techniques. They showed enthusiasm during performances and group discussions, highlighting creativity, teamwork, and effective presentation skills. However, internet connectivity issues slowed content searches, and not all groups had time to present. To address this, content will be provided in advance, and remaining presentations will be completed in the next lesson. Overall, the lesson promoted communication, collaboration, and appreciation of oral literature.</a:t>
                      </a:r>
                    </a:p>
                    <a:p>
                      <a:pPr marL="0" marR="0">
                        <a:lnSpc>
                          <a:spcPct val="150000"/>
                        </a:lnSpc>
                        <a:spcBef>
                          <a:spcPts val="0"/>
                        </a:spcBef>
                        <a:spcAft>
                          <a:spcPts val="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2342" marR="62342"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4287018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868680"/>
          </a:xfrm>
        </p:spPr>
        <p:txBody>
          <a:bodyPr/>
          <a:lstStyle/>
          <a:p>
            <a:pPr algn="ctr"/>
            <a:r>
              <a:rPr lang="en-US" b="1" dirty="0"/>
              <a:t>Activity 3 </a:t>
            </a:r>
          </a:p>
        </p:txBody>
      </p:sp>
      <p:sp>
        <p:nvSpPr>
          <p:cNvPr id="3" name="Content Placeholder 2"/>
          <p:cNvSpPr>
            <a:spLocks noGrp="1"/>
          </p:cNvSpPr>
          <p:nvPr>
            <p:ph idx="1"/>
          </p:nvPr>
        </p:nvSpPr>
        <p:spPr>
          <a:xfrm>
            <a:off x="114300" y="868681"/>
            <a:ext cx="12077700" cy="5074919"/>
          </a:xfrm>
        </p:spPr>
        <p:txBody>
          <a:bodyPr/>
          <a:lstStyle/>
          <a:p>
            <a:pPr marL="0" indent="0">
              <a:buNone/>
            </a:pPr>
            <a:r>
              <a:rPr lang="en-US" sz="3600" dirty="0"/>
              <a:t>In Cluster groups: </a:t>
            </a:r>
          </a:p>
          <a:p>
            <a:r>
              <a:rPr lang="en-US" sz="3600" dirty="0"/>
              <a:t>Select a subject of your choice from the Cluster areas.</a:t>
            </a:r>
          </a:p>
          <a:p>
            <a:r>
              <a:rPr lang="en-US" sz="3600" dirty="0"/>
              <a:t>Pick one sub strand and prepare a one-week scheme of work. (Preferably a sub strand with 4-6 lessons)</a:t>
            </a:r>
          </a:p>
          <a:p>
            <a:r>
              <a:rPr lang="en-US" sz="3600" dirty="0"/>
              <a:t>Present in a gallery walk.</a:t>
            </a:r>
          </a:p>
          <a:p>
            <a:r>
              <a:rPr lang="en-US" sz="3600" dirty="0"/>
              <a:t>What lesson(s )have you learned regarding preparation of S.O.W?</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71575"/>
            <a:ext cx="12192000" cy="5301847"/>
          </a:xfrm>
          <a:prstGeom prst="rect">
            <a:avLst/>
          </a:prstGeom>
        </p:spPr>
      </p:pic>
      <p:sp>
        <p:nvSpPr>
          <p:cNvPr id="3" name="TextBox 2"/>
          <p:cNvSpPr txBox="1"/>
          <p:nvPr/>
        </p:nvSpPr>
        <p:spPr>
          <a:xfrm>
            <a:off x="361244" y="191911"/>
            <a:ext cx="57347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mbria"/>
                <a:ea typeface="+mn-ea"/>
                <a:cs typeface="+mn-cs"/>
              </a:rPr>
              <a:t>Activity 3: IN  CLUSTER AREAS</a:t>
            </a:r>
          </a:p>
        </p:txBody>
      </p:sp>
    </p:spTree>
    <p:extLst>
      <p:ext uri="{BB962C8B-B14F-4D97-AF65-F5344CB8AC3E}">
        <p14:creationId xmlns:p14="http://schemas.microsoft.com/office/powerpoint/2010/main" val="34336317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353800" cy="868680"/>
          </a:xfrm>
        </p:spPr>
        <p:txBody>
          <a:bodyPr/>
          <a:lstStyle/>
          <a:p>
            <a:pPr algn="ctr"/>
            <a:r>
              <a:rPr lang="en-US" b="1" dirty="0"/>
              <a:t>Lesson Plan</a:t>
            </a:r>
          </a:p>
        </p:txBody>
      </p:sp>
      <p:sp>
        <p:nvSpPr>
          <p:cNvPr id="3" name="Content Placeholder 2"/>
          <p:cNvSpPr>
            <a:spLocks noGrp="1"/>
          </p:cNvSpPr>
          <p:nvPr>
            <p:ph idx="1"/>
          </p:nvPr>
        </p:nvSpPr>
        <p:spPr>
          <a:xfrm>
            <a:off x="114300" y="868681"/>
            <a:ext cx="12077700" cy="5196453"/>
          </a:xfrm>
        </p:spPr>
        <p:txBody>
          <a:bodyPr/>
          <a:lstStyle/>
          <a:p>
            <a:pPr marL="0" indent="0" algn="ctr">
              <a:buNone/>
            </a:pPr>
            <a:r>
              <a:rPr lang="en-US" sz="3200" b="1" dirty="0"/>
              <a:t>GROUP ACTIVITY 4</a:t>
            </a:r>
          </a:p>
          <a:p>
            <a:r>
              <a:rPr lang="en-US" sz="3200" dirty="0"/>
              <a:t>What are your experiences regarding preparation of lesson plans?</a:t>
            </a:r>
          </a:p>
          <a:p>
            <a:r>
              <a:rPr lang="en-US" sz="3200" dirty="0"/>
              <a:t>What is the difference between the lesson plans in CBC and other lesson plans that you are familiar with.</a:t>
            </a:r>
          </a:p>
          <a:p>
            <a:r>
              <a:rPr lang="en-US" sz="3200" dirty="0"/>
              <a:t>What is the relationship between the lesson plan and S.O.W?</a:t>
            </a:r>
          </a:p>
          <a:p>
            <a:r>
              <a:rPr lang="en-US" sz="3200" dirty="0"/>
              <a:t>Outline the components of a lesson plan in CBC.</a:t>
            </a:r>
          </a:p>
          <a:p>
            <a:r>
              <a:rPr lang="en-US" sz="3200" dirty="0"/>
              <a:t>How are core competencies, values and PCIs addressed in a lesson plan?</a:t>
            </a:r>
          </a:p>
          <a:p>
            <a:r>
              <a:rPr lang="en-US" sz="3200" dirty="0"/>
              <a:t>Share in plenary.</a:t>
            </a:r>
          </a:p>
          <a:p>
            <a:endParaRPr lang="en-US" dirty="0"/>
          </a:p>
          <a:p>
            <a:endParaRPr lang="en-US" dirty="0"/>
          </a:p>
          <a:p>
            <a:pPr marL="0" indent="0">
              <a:buNone/>
            </a:pPr>
            <a:endParaRPr lang="en-US" dirty="0"/>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58084702"/>
              </p:ext>
            </p:extLst>
          </p:nvPr>
        </p:nvGraphicFramePr>
        <p:xfrm>
          <a:off x="72473" y="1395662"/>
          <a:ext cx="12045732" cy="4427622"/>
        </p:xfrm>
        <a:graphic>
          <a:graphicData uri="http://schemas.openxmlformats.org/drawingml/2006/table">
            <a:tbl>
              <a:tblPr firstRow="1" firstCol="1" bandRow="1">
                <a:tableStyleId>{5C22544A-7EE6-4342-B048-85BDC9FD1C3A}</a:tableStyleId>
              </a:tblPr>
              <a:tblGrid>
                <a:gridCol w="2388387">
                  <a:extLst>
                    <a:ext uri="{9D8B030D-6E8A-4147-A177-3AD203B41FA5}">
                      <a16:colId xmlns:a16="http://schemas.microsoft.com/office/drawing/2014/main" val="20000"/>
                    </a:ext>
                  </a:extLst>
                </a:gridCol>
                <a:gridCol w="2386311">
                  <a:extLst>
                    <a:ext uri="{9D8B030D-6E8A-4147-A177-3AD203B41FA5}">
                      <a16:colId xmlns:a16="http://schemas.microsoft.com/office/drawing/2014/main" val="20001"/>
                    </a:ext>
                  </a:extLst>
                </a:gridCol>
                <a:gridCol w="2282513">
                  <a:extLst>
                    <a:ext uri="{9D8B030D-6E8A-4147-A177-3AD203B41FA5}">
                      <a16:colId xmlns:a16="http://schemas.microsoft.com/office/drawing/2014/main" val="20002"/>
                    </a:ext>
                  </a:extLst>
                </a:gridCol>
                <a:gridCol w="4988521">
                  <a:extLst>
                    <a:ext uri="{9D8B030D-6E8A-4147-A177-3AD203B41FA5}">
                      <a16:colId xmlns:a16="http://schemas.microsoft.com/office/drawing/2014/main" val="20003"/>
                    </a:ext>
                  </a:extLst>
                </a:gridCol>
              </a:tblGrid>
              <a:tr h="427818">
                <a:tc gridSpan="4">
                  <a:txBody>
                    <a:bodyPr/>
                    <a:lstStyle/>
                    <a:p>
                      <a:pPr marL="0" marR="0">
                        <a:lnSpc>
                          <a:spcPct val="150000"/>
                        </a:lnSpc>
                        <a:spcBef>
                          <a:spcPts val="0"/>
                        </a:spcBef>
                        <a:spcAft>
                          <a:spcPts val="0"/>
                        </a:spcAft>
                      </a:pPr>
                      <a:r>
                        <a:rPr lang="en-GB" sz="1800" dirty="0">
                          <a:effectLst/>
                        </a:rPr>
                        <a:t>ADMINISTRATIVE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27818">
                <a:tc>
                  <a:txBody>
                    <a:bodyPr/>
                    <a:lstStyle/>
                    <a:p>
                      <a:pPr marL="0" marR="0">
                        <a:lnSpc>
                          <a:spcPct val="150000"/>
                        </a:lnSpc>
                        <a:spcBef>
                          <a:spcPts val="0"/>
                        </a:spcBef>
                        <a:spcAft>
                          <a:spcPts val="0"/>
                        </a:spcAft>
                      </a:pPr>
                      <a:r>
                        <a:rPr lang="en-GB" sz="1800">
                          <a:effectLst/>
                        </a:rPr>
                        <a:t>School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dirty="0">
                          <a:effectLst/>
                        </a:rPr>
                        <a:t>Hope Junior School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dirty="0">
                          <a:effectLst/>
                        </a:rPr>
                        <a:t>Date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7/9/2025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907239">
                <a:tc>
                  <a:txBody>
                    <a:bodyPr/>
                    <a:lstStyle/>
                    <a:p>
                      <a:pPr marL="0" marR="0">
                        <a:lnSpc>
                          <a:spcPct val="150000"/>
                        </a:lnSpc>
                        <a:spcBef>
                          <a:spcPts val="0"/>
                        </a:spcBef>
                        <a:spcAft>
                          <a:spcPts val="0"/>
                        </a:spcAft>
                      </a:pPr>
                      <a:r>
                        <a:rPr lang="en-GB" sz="1800" dirty="0">
                          <a:effectLst/>
                        </a:rPr>
                        <a:t>Subject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English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Time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8:00-8:40am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27818">
                <a:tc>
                  <a:txBody>
                    <a:bodyPr/>
                    <a:lstStyle/>
                    <a:p>
                      <a:pPr marL="0" marR="0">
                        <a:lnSpc>
                          <a:spcPct val="150000"/>
                        </a:lnSpc>
                        <a:spcBef>
                          <a:spcPts val="0"/>
                        </a:spcBef>
                        <a:spcAft>
                          <a:spcPts val="0"/>
                        </a:spcAft>
                      </a:pPr>
                      <a:r>
                        <a:rPr lang="en-GB" sz="1800">
                          <a:effectLst/>
                        </a:rPr>
                        <a:t>Year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2025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dirty="0">
                          <a:effectLst/>
                        </a:rPr>
                        <a:t>Grade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907239">
                <a:tc>
                  <a:txBody>
                    <a:bodyPr/>
                    <a:lstStyle/>
                    <a:p>
                      <a:pPr marL="0" marR="0">
                        <a:lnSpc>
                          <a:spcPct val="150000"/>
                        </a:lnSpc>
                        <a:spcBef>
                          <a:spcPts val="0"/>
                        </a:spcBef>
                        <a:spcAft>
                          <a:spcPts val="0"/>
                        </a:spcAft>
                      </a:pPr>
                      <a:r>
                        <a:rPr lang="en-GB" sz="1800">
                          <a:effectLst/>
                        </a:rPr>
                        <a:t>Term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a:effectLst/>
                        </a:rPr>
                        <a:t>Roll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dirty="0">
                          <a:effectLst/>
                        </a:rPr>
                        <a:t>Boys      25          Girls     30  </a:t>
                      </a:r>
                      <a:endParaRPr lang="en-US" sz="1800" dirty="0">
                        <a:effectLst/>
                      </a:endParaRPr>
                    </a:p>
                    <a:p>
                      <a:pPr marL="0" marR="0">
                        <a:lnSpc>
                          <a:spcPct val="150000"/>
                        </a:lnSpc>
                        <a:spcBef>
                          <a:spcPts val="0"/>
                        </a:spcBef>
                        <a:spcAft>
                          <a:spcPts val="0"/>
                        </a:spcAft>
                      </a:pPr>
                      <a:r>
                        <a:rPr lang="en-GB" sz="1800" dirty="0">
                          <a:effectLst/>
                        </a:rPr>
                        <a:t>TOTAL: 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329690">
                <a:tc>
                  <a:txBody>
                    <a:bodyPr/>
                    <a:lstStyle/>
                    <a:p>
                      <a:pPr marL="0" marR="0">
                        <a:lnSpc>
                          <a:spcPct val="150000"/>
                        </a:lnSpc>
                        <a:spcBef>
                          <a:spcPts val="0"/>
                        </a:spcBef>
                        <a:spcAft>
                          <a:spcPts val="0"/>
                        </a:spcAft>
                      </a:pPr>
                      <a:r>
                        <a:rPr lang="en-GB" sz="1600">
                          <a:effectLst/>
                        </a:rPr>
                        <a:t>Teacher’s Details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Name: Mercy Kemi</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nSpc>
                          <a:spcPct val="150000"/>
                        </a:lnSpc>
                        <a:spcBef>
                          <a:spcPts val="0"/>
                        </a:spcBef>
                        <a:spcAft>
                          <a:spcPts val="0"/>
                        </a:spcAft>
                      </a:pPr>
                      <a:r>
                        <a:rPr lang="en-GB" sz="1600" dirty="0">
                          <a:effectLst/>
                        </a:rPr>
                        <a:t>TSC No. 000111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3" name="Rectangle 1"/>
          <p:cNvSpPr>
            <a:spLocks noChangeArrowheads="1"/>
          </p:cNvSpPr>
          <p:nvPr/>
        </p:nvSpPr>
        <p:spPr bwMode="auto">
          <a:xfrm>
            <a:off x="72474" y="999424"/>
            <a:ext cx="40446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SAMPLE LESSON PLAN - ENGLISH</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233254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31333"/>
            <a:ext cx="12192000" cy="4893647"/>
          </a:xfrm>
          <a:prstGeom prst="rect">
            <a:avLst/>
          </a:prstGeom>
        </p:spPr>
        <p:txBody>
          <a:bodyPr wrap="square">
            <a:spAutoFit/>
          </a:bodyPr>
          <a:lstStyle/>
          <a:p>
            <a:pPr algn="just"/>
            <a:r>
              <a:rPr lang="en-GB" sz="16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Strand: </a:t>
            </a:r>
            <a:r>
              <a:rPr lang="en-GB" sz="1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Listening and Speaking</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16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Sub strand: </a:t>
            </a:r>
            <a:r>
              <a:rPr lang="en-GB" sz="1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Oral Presentations: Oral Narratives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16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Lesson Learning Outcomes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GB" sz="1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By the end of the lesson, the learner should be able to:</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50000"/>
              </a:lnSpc>
              <a:spcBef>
                <a:spcPts val="0"/>
              </a:spcBef>
              <a:spcAft>
                <a:spcPts val="0"/>
              </a:spcAft>
              <a:buFont typeface="+mj-lt"/>
              <a:buAutoNum type="alphaLcParenR"/>
              <a:tabLst>
                <a:tab pos="914400" algn="l"/>
              </a:tabLst>
            </a:pPr>
            <a:r>
              <a:rPr lang="en-GB" sz="1600" dirty="0">
                <a:solidFill>
                  <a:srgbClr val="000000"/>
                </a:solidFill>
                <a:latin typeface="Times New Roman" panose="02020603050405020304" pitchFamily="18" charset="0"/>
                <a:ea typeface="Arial" panose="020B0604020202020204" pitchFamily="34" charset="0"/>
              </a:rPr>
              <a:t>outline the oral narrative performance techniques for effective delivery,</a:t>
            </a:r>
            <a:endParaRPr lang="en-US" sz="1600" dirty="0">
              <a:latin typeface="Times New Roman" panose="02020603050405020304" pitchFamily="18" charset="0"/>
              <a:ea typeface="Times New Roman" panose="02020603050405020304" pitchFamily="18" charset="0"/>
            </a:endParaRPr>
          </a:p>
          <a:p>
            <a:pPr marL="742950" marR="0" lvl="1" indent="-285750" algn="just">
              <a:lnSpc>
                <a:spcPct val="150000"/>
              </a:lnSpc>
              <a:spcBef>
                <a:spcPts val="0"/>
              </a:spcBef>
              <a:spcAft>
                <a:spcPts val="0"/>
              </a:spcAft>
              <a:buFont typeface="+mj-lt"/>
              <a:buAutoNum type="alphaLcParenR"/>
              <a:tabLst>
                <a:tab pos="914400" algn="l"/>
              </a:tabLst>
            </a:pPr>
            <a:r>
              <a:rPr lang="en-GB" sz="1600" dirty="0">
                <a:solidFill>
                  <a:srgbClr val="000000"/>
                </a:solidFill>
                <a:latin typeface="Times New Roman" panose="02020603050405020304" pitchFamily="18" charset="0"/>
                <a:ea typeface="Arial" panose="020B0604020202020204" pitchFamily="34" charset="0"/>
              </a:rPr>
              <a:t>use oral narrative techniques during the performance,</a:t>
            </a:r>
            <a:endParaRPr lang="en-US" sz="1600" dirty="0">
              <a:latin typeface="Times New Roman" panose="02020603050405020304" pitchFamily="18" charset="0"/>
              <a:ea typeface="Times New Roman" panose="02020603050405020304" pitchFamily="18" charset="0"/>
            </a:endParaRPr>
          </a:p>
          <a:p>
            <a:pPr marL="742950" marR="0" lvl="1" indent="-285750" algn="just">
              <a:lnSpc>
                <a:spcPct val="150000"/>
              </a:lnSpc>
              <a:spcBef>
                <a:spcPts val="0"/>
              </a:spcBef>
              <a:spcAft>
                <a:spcPts val="0"/>
              </a:spcAft>
              <a:buFont typeface="+mj-lt"/>
              <a:buAutoNum type="alphaLcParenR"/>
              <a:tabLst>
                <a:tab pos="914400" algn="l"/>
              </a:tabLst>
            </a:pPr>
            <a:r>
              <a:rPr lang="en-US" sz="1600" dirty="0">
                <a:solidFill>
                  <a:srgbClr val="000000"/>
                </a:solidFill>
                <a:latin typeface="Times New Roman" panose="02020603050405020304" pitchFamily="18" charset="0"/>
                <a:ea typeface="Arial" panose="020B0604020202020204" pitchFamily="34" charset="0"/>
              </a:rPr>
              <a:t>appreciate the importance of performance techniques in the successful delivery of oral material.</a:t>
            </a:r>
            <a:endParaRPr lang="en-US" sz="1600" dirty="0">
              <a:latin typeface="Times New Roman" panose="02020603050405020304" pitchFamily="18" charset="0"/>
              <a:ea typeface="Times New Roman" panose="02020603050405020304" pitchFamily="18" charset="0"/>
            </a:endParaRPr>
          </a:p>
          <a:p>
            <a:pPr algn="just">
              <a:lnSpc>
                <a:spcPct val="150000"/>
              </a:lnSpc>
            </a:pPr>
            <a:r>
              <a:rPr lang="en-GB" sz="16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Key Inquiry Questions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tabLst>
                <a:tab pos="457200" algn="l"/>
              </a:tabLst>
            </a:pPr>
            <a:r>
              <a:rPr lang="en-GB" sz="1600" dirty="0">
                <a:solidFill>
                  <a:srgbClr val="000000"/>
                </a:solidFill>
                <a:latin typeface="Times New Roman" panose="02020603050405020304" pitchFamily="18" charset="0"/>
                <a:ea typeface="Cambria" panose="02040503050406030204" pitchFamily="18" charset="0"/>
              </a:rPr>
              <a:t>What do you enjoy most during a storytelling session?</a:t>
            </a:r>
            <a:endParaRPr lang="en-US" sz="1600" dirty="0">
              <a:latin typeface="Times New Roman" panose="02020603050405020304" pitchFamily="18" charset="0"/>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600" dirty="0">
                <a:solidFill>
                  <a:srgbClr val="000000"/>
                </a:solidFill>
                <a:latin typeface="Times New Roman" panose="02020603050405020304" pitchFamily="18" charset="0"/>
                <a:ea typeface="Cambria" panose="02040503050406030204" pitchFamily="18" charset="0"/>
              </a:rPr>
              <a:t>How can you become a good storyteller?</a:t>
            </a:r>
            <a:endParaRPr lang="en-US" sz="1600" dirty="0">
              <a:latin typeface="Times New Roman" panose="02020603050405020304" pitchFamily="18" charset="0"/>
              <a:ea typeface="Times New Roman" panose="02020603050405020304" pitchFamily="18" charset="0"/>
            </a:endParaRPr>
          </a:p>
          <a:p>
            <a:pPr>
              <a:lnSpc>
                <a:spcPct val="150000"/>
              </a:lnSpc>
            </a:pPr>
            <a:r>
              <a:rPr lang="en-GB" sz="16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Learning Resources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GB" sz="1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Video, radio or phone recordings of narrations or dramatization of storytelling, resource person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GB" sz="1600" b="1" dirty="0">
                <a:latin typeface="Times New Roman" panose="02020603050405020304" pitchFamily="18" charset="0"/>
                <a:ea typeface="Calibri" panose="020F0502020204030204" pitchFamily="34" charset="0"/>
                <a:cs typeface="Times New Roman" panose="02020603050405020304" pitchFamily="18" charset="0"/>
              </a:rPr>
              <a:t> I</a:t>
            </a:r>
            <a:r>
              <a:rPr lang="en-GB" sz="1600" b="1" dirty="0">
                <a:solidFill>
                  <a:srgbClr val="000000"/>
                </a:solidFill>
                <a:latin typeface="Times New Roman" panose="02020603050405020304" pitchFamily="18" charset="0"/>
                <a:ea typeface="Cambria" panose="02040503050406030204" pitchFamily="18" charset="0"/>
              </a:rPr>
              <a:t>ntroduction</a:t>
            </a:r>
            <a:endParaRPr lang="en-US" sz="1600" dirty="0">
              <a:latin typeface="Times New Roman" panose="02020603050405020304" pitchFamily="18" charset="0"/>
              <a:ea typeface="Times New Roman" panose="02020603050405020304" pitchFamily="18" charset="0"/>
            </a:endParaRPr>
          </a:p>
          <a:p>
            <a:pPr algn="just">
              <a:lnSpc>
                <a:spcPct val="150000"/>
              </a:lnSpc>
            </a:pPr>
            <a:r>
              <a:rPr lang="en-GB" sz="1600" dirty="0">
                <a:solidFill>
                  <a:srgbClr val="000000"/>
                </a:solidFill>
                <a:latin typeface="Times New Roman" panose="02020603050405020304" pitchFamily="18" charset="0"/>
                <a:ea typeface="Cambria" panose="02040503050406030204" pitchFamily="18" charset="0"/>
              </a:rPr>
              <a:t>The learner responds to the following question: ‘What do you enjoy most during a storytelling session?’</a:t>
            </a:r>
            <a:endParaRPr lang="en-US"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1713689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378" y="955977"/>
            <a:ext cx="12192000" cy="4662815"/>
          </a:xfrm>
          <a:prstGeom prst="rect">
            <a:avLst/>
          </a:prstGeom>
        </p:spPr>
        <p:txBody>
          <a:bodyPr wrap="square">
            <a:spAutoFit/>
          </a:bodyPr>
          <a:lstStyle/>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Lesson Development </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Step 1</a:t>
            </a:r>
            <a:r>
              <a:rPr lang="en-GB" dirty="0">
                <a:solidFill>
                  <a:srgbClr val="000000"/>
                </a:solidFill>
                <a:latin typeface="Times New Roman" panose="02020603050405020304" pitchFamily="18" charset="0"/>
                <a:ea typeface="Cambria" panose="02040503050406030204" pitchFamily="18" charset="0"/>
              </a:rPr>
              <a:t> </a:t>
            </a:r>
          </a:p>
          <a:p>
            <a:pPr algn="just">
              <a:lnSpc>
                <a:spcPct val="150000"/>
              </a:lnSpc>
            </a:pPr>
            <a:r>
              <a:rPr lang="en-GB" b="1">
                <a:solidFill>
                  <a:srgbClr val="FF0000"/>
                </a:solidFill>
                <a:latin typeface="Times New Roman" panose="02020603050405020304" pitchFamily="18" charset="0"/>
                <a:ea typeface="Cambria" panose="02040503050406030204" pitchFamily="18" charset="0"/>
              </a:rPr>
              <a:t>Perform </a:t>
            </a:r>
            <a:r>
              <a:rPr lang="en-GB" dirty="0">
                <a:solidFill>
                  <a:srgbClr val="000000"/>
                </a:solidFill>
                <a:latin typeface="Times New Roman" panose="02020603050405020304" pitchFamily="18" charset="0"/>
                <a:ea typeface="Cambria" panose="02040503050406030204" pitchFamily="18" charset="0"/>
              </a:rPr>
              <a:t>(or watch live or a </a:t>
            </a:r>
            <a:r>
              <a:rPr lang="en-GB" dirty="0">
                <a:solidFill>
                  <a:srgbClr val="FF0000"/>
                </a:solidFill>
                <a:latin typeface="Times New Roman" panose="02020603050405020304" pitchFamily="18" charset="0"/>
                <a:ea typeface="Cambria" panose="02040503050406030204" pitchFamily="18" charset="0"/>
              </a:rPr>
              <a:t>recorded</a:t>
            </a:r>
            <a:r>
              <a:rPr lang="en-GB" dirty="0">
                <a:solidFill>
                  <a:srgbClr val="000000"/>
                </a:solidFill>
                <a:latin typeface="Times New Roman" panose="02020603050405020304" pitchFamily="18" charset="0"/>
                <a:ea typeface="Cambria" panose="02040503050406030204" pitchFamily="18" charset="0"/>
              </a:rPr>
              <a:t> oral performance of) a narrative as a class. </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i="1" dirty="0">
                <a:latin typeface="Times New Roman" panose="02020603050405020304" pitchFamily="18" charset="0"/>
                <a:ea typeface="Cambria" panose="02040503050406030204" pitchFamily="18" charset="0"/>
              </a:rPr>
              <a:t>The core competency of self-efficacy will be developed as the learners perform or react to the performance</a:t>
            </a:r>
            <a:r>
              <a:rPr lang="en-GB" b="1" i="1" dirty="0">
                <a:solidFill>
                  <a:srgbClr val="FF0000"/>
                </a:solidFill>
                <a:latin typeface="Times New Roman" panose="02020603050405020304" pitchFamily="18" charset="0"/>
                <a:ea typeface="Cambria" panose="02040503050406030204" pitchFamily="18" charset="0"/>
              </a:rPr>
              <a:t>.</a:t>
            </a:r>
            <a:endParaRPr lang="en-US" b="1" dirty="0">
              <a:solidFill>
                <a:srgbClr val="FF0000"/>
              </a:solidFill>
              <a:latin typeface="Times New Roman" panose="02020603050405020304" pitchFamily="18" charset="0"/>
              <a:ea typeface="Times New Roman" panose="02020603050405020304" pitchFamily="18" charset="0"/>
            </a:endParaRPr>
          </a:p>
          <a:p>
            <a:pPr algn="just">
              <a:lnSpc>
                <a:spcPct val="150000"/>
              </a:lnSpc>
            </a:pPr>
            <a:r>
              <a:rPr lang="en-GB" b="1" dirty="0">
                <a:latin typeface="Times New Roman" panose="02020603050405020304" pitchFamily="18" charset="0"/>
                <a:ea typeface="Cambria" panose="02040503050406030204" pitchFamily="18" charset="0"/>
              </a:rPr>
              <a:t>Step 2</a:t>
            </a:r>
            <a:r>
              <a:rPr lang="en-GB" dirty="0">
                <a:latin typeface="Times New Roman" panose="02020603050405020304" pitchFamily="18" charset="0"/>
                <a:ea typeface="Cambria" panose="02040503050406030204" pitchFamily="18" charset="0"/>
              </a:rPr>
              <a:t>: In pairs, learners </a:t>
            </a:r>
            <a:r>
              <a:rPr lang="en-GB" dirty="0">
                <a:solidFill>
                  <a:srgbClr val="FF0000"/>
                </a:solidFill>
                <a:latin typeface="Times New Roman" panose="02020603050405020304" pitchFamily="18" charset="0"/>
                <a:ea typeface="Cambria" panose="02040503050406030204" pitchFamily="18" charset="0"/>
              </a:rPr>
              <a:t>discuss</a:t>
            </a:r>
            <a:r>
              <a:rPr lang="en-GB" dirty="0">
                <a:latin typeface="Times New Roman" panose="02020603050405020304" pitchFamily="18" charset="0"/>
                <a:ea typeface="Cambria" panose="02040503050406030204" pitchFamily="18" charset="0"/>
              </a:rPr>
              <a:t> what they think made the session interesting. </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i="1" dirty="0">
                <a:latin typeface="Times New Roman" panose="02020603050405020304" pitchFamily="18" charset="0"/>
                <a:ea typeface="Cambria" panose="02040503050406030204" pitchFamily="18" charset="0"/>
              </a:rPr>
              <a:t>This enhances Life Skills Education as a PCI and more specifically effective communication as the learner </a:t>
            </a:r>
            <a:r>
              <a:rPr lang="en-GB" b="1" i="1" dirty="0">
                <a:latin typeface="Times New Roman" panose="02020603050405020304" pitchFamily="18" charset="0"/>
                <a:ea typeface="Times New Roman" panose="02020603050405020304" pitchFamily="18" charset="0"/>
              </a:rPr>
              <a:t>discusses the oral performance</a:t>
            </a:r>
            <a:r>
              <a:rPr lang="en-GB" b="1" dirty="0">
                <a:latin typeface="Times New Roman" panose="02020603050405020304" pitchFamily="18" charset="0"/>
                <a:ea typeface="Times New Roman" panose="02020603050405020304" pitchFamily="18" charset="0"/>
              </a:rPr>
              <a:t>.</a:t>
            </a:r>
            <a:endParaRPr lang="en-US" b="1" dirty="0">
              <a:latin typeface="Times New Roman" panose="02020603050405020304" pitchFamily="18" charset="0"/>
              <a:ea typeface="Times New Roman" panose="02020603050405020304" pitchFamily="18" charset="0"/>
            </a:endParaRPr>
          </a:p>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Step 3.</a:t>
            </a:r>
            <a:r>
              <a:rPr lang="en-GB" dirty="0">
                <a:solidFill>
                  <a:srgbClr val="000000"/>
                </a:solidFill>
                <a:latin typeface="Times New Roman" panose="02020603050405020304" pitchFamily="18" charset="0"/>
                <a:ea typeface="Cambria" panose="02040503050406030204" pitchFamily="18" charset="0"/>
              </a:rPr>
              <a:t>  Learners </a:t>
            </a:r>
            <a:r>
              <a:rPr lang="en-GB" dirty="0">
                <a:solidFill>
                  <a:srgbClr val="FF0000"/>
                </a:solidFill>
                <a:latin typeface="Times New Roman" panose="02020603050405020304" pitchFamily="18" charset="0"/>
                <a:ea typeface="Cambria" panose="02040503050406030204" pitchFamily="18" charset="0"/>
              </a:rPr>
              <a:t>perform</a:t>
            </a:r>
            <a:r>
              <a:rPr lang="en-GB" dirty="0">
                <a:solidFill>
                  <a:srgbClr val="000000"/>
                </a:solidFill>
                <a:latin typeface="Times New Roman" panose="02020603050405020304" pitchFamily="18" charset="0"/>
                <a:ea typeface="Cambria" panose="02040503050406030204" pitchFamily="18" charset="0"/>
              </a:rPr>
              <a:t> oral narratives in groups while peers </a:t>
            </a:r>
            <a:r>
              <a:rPr lang="en-GB" dirty="0">
                <a:solidFill>
                  <a:srgbClr val="FF0000"/>
                </a:solidFill>
                <a:latin typeface="Times New Roman" panose="02020603050405020304" pitchFamily="18" charset="0"/>
                <a:ea typeface="Cambria" panose="02040503050406030204" pitchFamily="18" charset="0"/>
              </a:rPr>
              <a:t>watch, record</a:t>
            </a:r>
            <a:r>
              <a:rPr lang="en-GB" dirty="0">
                <a:solidFill>
                  <a:srgbClr val="000000"/>
                </a:solidFill>
                <a:latin typeface="Times New Roman" panose="02020603050405020304" pitchFamily="18" charset="0"/>
                <a:ea typeface="Cambria" panose="02040503050406030204" pitchFamily="18" charset="0"/>
              </a:rPr>
              <a:t>, and then give each other </a:t>
            </a:r>
            <a:r>
              <a:rPr lang="en-GB" dirty="0">
                <a:solidFill>
                  <a:srgbClr val="FF0000"/>
                </a:solidFill>
                <a:latin typeface="Times New Roman" panose="02020603050405020304" pitchFamily="18" charset="0"/>
                <a:ea typeface="Cambria" panose="02040503050406030204" pitchFamily="18" charset="0"/>
              </a:rPr>
              <a:t>feedback</a:t>
            </a:r>
            <a:r>
              <a:rPr lang="en-GB" dirty="0">
                <a:solidFill>
                  <a:srgbClr val="000000"/>
                </a:solidFill>
                <a:latin typeface="Times New Roman" panose="02020603050405020304" pitchFamily="18" charset="0"/>
                <a:ea typeface="Cambria" panose="02040503050406030204" pitchFamily="18" charset="0"/>
              </a:rPr>
              <a:t> on techniques used.</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dirty="0">
                <a:latin typeface="Times New Roman" panose="02020603050405020304" pitchFamily="18" charset="0"/>
                <a:ea typeface="Cambria" panose="02040503050406030204" pitchFamily="18" charset="0"/>
              </a:rPr>
              <a:t>This enhances </a:t>
            </a:r>
            <a:r>
              <a:rPr lang="en-GB" b="1" i="1" dirty="0">
                <a:latin typeface="Times New Roman" panose="02020603050405020304" pitchFamily="18" charset="0"/>
                <a:ea typeface="Cambria" panose="02040503050406030204" pitchFamily="18" charset="0"/>
              </a:rPr>
              <a:t>communication and collaboration</a:t>
            </a:r>
            <a:r>
              <a:rPr lang="en-GB" b="1" dirty="0">
                <a:latin typeface="Times New Roman" panose="02020603050405020304" pitchFamily="18" charset="0"/>
                <a:ea typeface="Cambria" panose="02040503050406030204" pitchFamily="18" charset="0"/>
              </a:rPr>
              <a:t>. It also enhances the </a:t>
            </a:r>
            <a:r>
              <a:rPr lang="en-GB" b="1" i="1" dirty="0">
                <a:latin typeface="Times New Roman" panose="02020603050405020304" pitchFamily="18" charset="0"/>
                <a:ea typeface="Cambria" panose="02040503050406030204" pitchFamily="18" charset="0"/>
              </a:rPr>
              <a:t>value of unity as the learner collaborates with peers to perform and record an oral narrative.</a:t>
            </a:r>
            <a:endParaRPr lang="en-US" b="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1105976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928891"/>
            <a:ext cx="12090400" cy="5078313"/>
          </a:xfrm>
          <a:prstGeom prst="rect">
            <a:avLst/>
          </a:prstGeom>
        </p:spPr>
        <p:txBody>
          <a:bodyPr wrap="square">
            <a:spAutoFit/>
          </a:bodyPr>
          <a:lstStyle/>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Conclusion </a:t>
            </a:r>
            <a:endParaRPr lang="en-US" dirty="0">
              <a:latin typeface="Times New Roman" panose="02020603050405020304" pitchFamily="18" charset="0"/>
              <a:ea typeface="Times New Roman" panose="02020603050405020304" pitchFamily="18" charset="0"/>
            </a:endParaRPr>
          </a:p>
          <a:p>
            <a:pPr algn="just">
              <a:lnSpc>
                <a:spcPct val="150000"/>
              </a:lnSpc>
            </a:pPr>
            <a:r>
              <a:rPr lang="en-GB" dirty="0">
                <a:solidFill>
                  <a:srgbClr val="000000"/>
                </a:solidFill>
                <a:latin typeface="Times New Roman" panose="02020603050405020304" pitchFamily="18" charset="0"/>
                <a:ea typeface="Cambria" panose="02040503050406030204" pitchFamily="18" charset="0"/>
              </a:rPr>
              <a:t>Learners are guided to </a:t>
            </a:r>
            <a:r>
              <a:rPr lang="en-GB" dirty="0">
                <a:solidFill>
                  <a:srgbClr val="FF0000"/>
                </a:solidFill>
                <a:latin typeface="Times New Roman" panose="02020603050405020304" pitchFamily="18" charset="0"/>
                <a:ea typeface="Cambria" panose="02040503050406030204" pitchFamily="18" charset="0"/>
              </a:rPr>
              <a:t>discuss</a:t>
            </a:r>
            <a:r>
              <a:rPr lang="en-GB" dirty="0">
                <a:solidFill>
                  <a:srgbClr val="000000"/>
                </a:solidFill>
                <a:latin typeface="Times New Roman" panose="02020603050405020304" pitchFamily="18" charset="0"/>
                <a:ea typeface="Cambria" panose="02040503050406030204" pitchFamily="18" charset="0"/>
              </a:rPr>
              <a:t> the following question:</a:t>
            </a:r>
            <a:endParaRPr lang="en-US" dirty="0">
              <a:latin typeface="Times New Roman" panose="02020603050405020304" pitchFamily="18" charset="0"/>
              <a:ea typeface="Times New Roman" panose="02020603050405020304" pitchFamily="18" charset="0"/>
            </a:endParaRPr>
          </a:p>
          <a:p>
            <a:pPr algn="just">
              <a:lnSpc>
                <a:spcPct val="150000"/>
              </a:lnSpc>
            </a:pPr>
            <a:r>
              <a:rPr lang="en-GB" dirty="0">
                <a:solidFill>
                  <a:srgbClr val="000000"/>
                </a:solidFill>
                <a:latin typeface="Times New Roman" panose="02020603050405020304" pitchFamily="18" charset="0"/>
                <a:ea typeface="Cambria" panose="02040503050406030204" pitchFamily="18" charset="0"/>
              </a:rPr>
              <a:t>How can you become a good story teller?</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Extended Activity</a:t>
            </a:r>
            <a:endParaRPr lang="en-US" dirty="0">
              <a:latin typeface="Times New Roman" panose="02020603050405020304" pitchFamily="18" charset="0"/>
              <a:ea typeface="Times New Roman" panose="02020603050405020304" pitchFamily="18" charset="0"/>
            </a:endParaRPr>
          </a:p>
          <a:p>
            <a:pPr algn="just">
              <a:lnSpc>
                <a:spcPct val="150000"/>
              </a:lnSpc>
            </a:pPr>
            <a:r>
              <a:rPr lang="en-GB" dirty="0">
                <a:solidFill>
                  <a:srgbClr val="000000"/>
                </a:solidFill>
                <a:latin typeface="Times New Roman" panose="02020603050405020304" pitchFamily="18" charset="0"/>
                <a:ea typeface="Cambria" panose="02040503050406030204" pitchFamily="18" charset="0"/>
              </a:rPr>
              <a:t>The learner to </a:t>
            </a:r>
            <a:r>
              <a:rPr lang="en-GB" dirty="0">
                <a:solidFill>
                  <a:srgbClr val="FF0000"/>
                </a:solidFill>
                <a:latin typeface="Times New Roman" panose="02020603050405020304" pitchFamily="18" charset="0"/>
                <a:ea typeface="Cambria" panose="02040503050406030204" pitchFamily="18" charset="0"/>
              </a:rPr>
              <a:t>retell</a:t>
            </a:r>
            <a:r>
              <a:rPr lang="en-GB" dirty="0">
                <a:solidFill>
                  <a:srgbClr val="000000"/>
                </a:solidFill>
                <a:latin typeface="Times New Roman" panose="02020603050405020304" pitchFamily="18" charset="0"/>
                <a:ea typeface="Cambria" panose="02040503050406030204" pitchFamily="18" charset="0"/>
              </a:rPr>
              <a:t> the story as well as lessons learnt from the story to their parents, siblings or peers. </a:t>
            </a:r>
            <a:endParaRPr lang="en-US" dirty="0">
              <a:latin typeface="Times New Roman" panose="02020603050405020304" pitchFamily="18" charset="0"/>
              <a:ea typeface="Times New Roman" panose="02020603050405020304" pitchFamily="18" charset="0"/>
            </a:endParaRPr>
          </a:p>
          <a:p>
            <a:pPr algn="just">
              <a:lnSpc>
                <a:spcPct val="150000"/>
              </a:lnSpc>
            </a:pPr>
            <a:r>
              <a:rPr lang="en-GB" b="1" dirty="0">
                <a:solidFill>
                  <a:srgbClr val="FF0000"/>
                </a:solidFill>
                <a:latin typeface="Times New Roman" panose="02020603050405020304" pitchFamily="18" charset="0"/>
                <a:ea typeface="Cambria" panose="02040503050406030204" pitchFamily="18" charset="0"/>
              </a:rPr>
              <a:t>This promotes the </a:t>
            </a:r>
            <a:r>
              <a:rPr lang="en-GB" b="1" i="1" dirty="0">
                <a:solidFill>
                  <a:srgbClr val="FF0000"/>
                </a:solidFill>
                <a:latin typeface="Times New Roman" panose="02020603050405020304" pitchFamily="18" charset="0"/>
                <a:ea typeface="Cambria" panose="02040503050406030204" pitchFamily="18" charset="0"/>
              </a:rPr>
              <a:t>value of responsibility </a:t>
            </a:r>
            <a:r>
              <a:rPr lang="en-GB" b="1" dirty="0">
                <a:solidFill>
                  <a:srgbClr val="FF0000"/>
                </a:solidFill>
                <a:latin typeface="Times New Roman" panose="02020603050405020304" pitchFamily="18" charset="0"/>
                <a:ea typeface="Cambria" panose="02040503050406030204" pitchFamily="18" charset="0"/>
              </a:rPr>
              <a:t>as the learner takes up the assigned tasks. It also promotes the </a:t>
            </a:r>
            <a:r>
              <a:rPr lang="en-GB" b="1" i="1" dirty="0">
                <a:solidFill>
                  <a:srgbClr val="FF0000"/>
                </a:solidFill>
                <a:latin typeface="Times New Roman" panose="02020603050405020304" pitchFamily="18" charset="0"/>
                <a:ea typeface="Cambria" panose="02040503050406030204" pitchFamily="18" charset="0"/>
              </a:rPr>
              <a:t>PCI of parental engagement and empowerment.</a:t>
            </a:r>
          </a:p>
          <a:p>
            <a:pPr algn="just">
              <a:lnSpc>
                <a:spcPct val="150000"/>
              </a:lnSpc>
            </a:pPr>
            <a:r>
              <a:rPr lang="en-GB" b="1" dirty="0">
                <a:solidFill>
                  <a:srgbClr val="000000"/>
                </a:solidFill>
                <a:latin typeface="Times New Roman" panose="02020603050405020304" pitchFamily="18" charset="0"/>
                <a:ea typeface="Cambria" panose="02040503050406030204" pitchFamily="18" charset="0"/>
              </a:rPr>
              <a:t>Reflection</a:t>
            </a:r>
            <a:endParaRPr lang="en-US" dirty="0">
              <a:latin typeface="Times New Roman" panose="02020603050405020304" pitchFamily="18" charset="0"/>
              <a:ea typeface="Times New Roman" panose="02020603050405020304" pitchFamily="18" charset="0"/>
            </a:endParaRPr>
          </a:p>
          <a:p>
            <a:pPr algn="just">
              <a:lnSpc>
                <a:spcPct val="150000"/>
              </a:lnSpc>
            </a:pPr>
            <a:r>
              <a:rPr lang="en-GB" dirty="0">
                <a:latin typeface="Times New Roman" panose="02020603050405020304" pitchFamily="18" charset="0"/>
                <a:ea typeface="Cambria" panose="02040503050406030204" pitchFamily="18" charset="0"/>
                <a:cs typeface="Times New Roman" panose="02020603050405020304" pitchFamily="18" charset="0"/>
              </a:rPr>
              <a:t>Part of the lesson was not fully covered since the performances were engaging. During group presentations, learners demonstrated creativity, collaboration, and confidence. However, due to the interactive nature of the performances and time constraints, not all groups managed to present. Arrangements will be made to ensure the remaining learners get an opportunity to present and receive feedback in the next lesson.</a:t>
            </a:r>
          </a:p>
        </p:txBody>
      </p:sp>
    </p:spTree>
    <p:extLst>
      <p:ext uri="{BB962C8B-B14F-4D97-AF65-F5344CB8AC3E}">
        <p14:creationId xmlns:p14="http://schemas.microsoft.com/office/powerpoint/2010/main" val="377487965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 y="80011"/>
            <a:ext cx="11193780" cy="754380"/>
          </a:xfrm>
        </p:spPr>
        <p:txBody>
          <a:bodyPr/>
          <a:lstStyle/>
          <a:p>
            <a:pPr algn="ctr"/>
            <a:r>
              <a:rPr lang="en-US" b="1" dirty="0"/>
              <a:t>Activity 5</a:t>
            </a:r>
          </a:p>
        </p:txBody>
      </p:sp>
      <p:sp>
        <p:nvSpPr>
          <p:cNvPr id="3" name="Content Placeholder 2"/>
          <p:cNvSpPr>
            <a:spLocks noGrp="1"/>
          </p:cNvSpPr>
          <p:nvPr>
            <p:ph idx="1"/>
          </p:nvPr>
        </p:nvSpPr>
        <p:spPr>
          <a:xfrm>
            <a:off x="0" y="948691"/>
            <a:ext cx="12192000" cy="5006340"/>
          </a:xfrm>
        </p:spPr>
        <p:txBody>
          <a:bodyPr/>
          <a:lstStyle/>
          <a:p>
            <a:pPr marL="0" indent="0">
              <a:buNone/>
            </a:pPr>
            <a:r>
              <a:rPr lang="en-US" sz="3600" dirty="0"/>
              <a:t>In Cluster groups:</a:t>
            </a:r>
          </a:p>
          <a:p>
            <a:r>
              <a:rPr lang="en-US" sz="3600" dirty="0"/>
              <a:t>Prepare a lesson plan based on the scheme of work that had prepared. </a:t>
            </a:r>
          </a:p>
          <a:p>
            <a:r>
              <a:rPr lang="en-US" sz="3600" dirty="0"/>
              <a:t>Present your lesson plan during gallery walk. </a:t>
            </a:r>
          </a:p>
          <a:p>
            <a:r>
              <a:rPr lang="en-US" sz="3600" dirty="0"/>
              <a:t>Discuss any emerging issues in a plenary </a:t>
            </a:r>
            <a:r>
              <a:rPr lang="en-US" sz="3600" dirty="0" err="1"/>
              <a:t>e.g</a:t>
            </a:r>
            <a:r>
              <a:rPr lang="en-US" sz="3600" dirty="0"/>
              <a:t> breaking of specific learning outcomes into lesson learning outcomes, </a:t>
            </a:r>
          </a:p>
          <a:p>
            <a:pPr marL="0" indent="0">
              <a:buNone/>
            </a:pPr>
            <a:endParaRPr lang="en-US" dirty="0"/>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13" y="676334"/>
            <a:ext cx="12232413" cy="5117063"/>
          </a:xfrm>
        </p:spPr>
        <p:txBody>
          <a:bodyPr/>
          <a:lstStyle/>
          <a:p>
            <a:pPr marL="514350" indent="-514350">
              <a:buFont typeface="+mj-lt"/>
              <a:buAutoNum type="arabicPeriod"/>
            </a:pPr>
            <a:r>
              <a:rPr lang="en-GB" sz="2400" dirty="0">
                <a:latin typeface="Maiandra GD" panose="020E0502030308020204" pitchFamily="34" charset="0"/>
              </a:rPr>
              <a:t>Are the Learning outcomes  well unpacked  from broader sub strand to bring out the intended   knowledge, skill(s), attitudes and values?</a:t>
            </a:r>
          </a:p>
          <a:p>
            <a:pPr marL="514350" indent="-514350">
              <a:buFont typeface="+mj-lt"/>
              <a:buAutoNum type="arabicPeriod"/>
            </a:pPr>
            <a:r>
              <a:rPr lang="en-GB" sz="2400" dirty="0">
                <a:latin typeface="Maiandra GD" panose="020E0502030308020204" pitchFamily="34" charset="0"/>
              </a:rPr>
              <a:t>Does the lesson plan have varied learning experiences ?At least targeting 3-4 learning styles of learners?</a:t>
            </a:r>
          </a:p>
          <a:p>
            <a:pPr marL="514350" indent="-514350">
              <a:buFont typeface="+mj-lt"/>
              <a:buAutoNum type="arabicPeriod"/>
            </a:pPr>
            <a:r>
              <a:rPr lang="en-GB" sz="2400" dirty="0">
                <a:latin typeface="Maiandra GD" panose="020E0502030308020204" pitchFamily="34" charset="0"/>
              </a:rPr>
              <a:t>Are the core competencies(s), value(s) and PCI(s) mainstreamed in the lesson development? What of assessment as learning and assessment of learning?</a:t>
            </a:r>
          </a:p>
          <a:p>
            <a:pPr marL="514350" indent="-514350">
              <a:buFont typeface="+mj-lt"/>
              <a:buAutoNum type="arabicPeriod"/>
            </a:pPr>
            <a:r>
              <a:rPr lang="en-GB" sz="2400" dirty="0">
                <a:latin typeface="Maiandra GD" panose="020E0502030308020204" pitchFamily="34" charset="0"/>
              </a:rPr>
              <a:t>Do the pedagogies employed foster active learning( learner centred)?</a:t>
            </a:r>
          </a:p>
          <a:p>
            <a:pPr marL="514350" indent="-514350">
              <a:buFont typeface="+mj-lt"/>
              <a:buAutoNum type="arabicPeriod"/>
            </a:pPr>
            <a:r>
              <a:rPr lang="en-GB" sz="2400" dirty="0">
                <a:latin typeface="Maiandra GD" panose="020E0502030308020204" pitchFamily="34" charset="0"/>
              </a:rPr>
              <a:t>How does the teacher assess the learners (Assessment should be integrated during the lesson e.g asking questions, responding to questions, writing answers, taking notes, summarising)</a:t>
            </a:r>
          </a:p>
          <a:p>
            <a:pPr marL="514350" indent="-514350">
              <a:buFont typeface="+mj-lt"/>
              <a:buAutoNum type="arabicPeriod"/>
            </a:pPr>
            <a:r>
              <a:rPr lang="en-GB" sz="2400" dirty="0">
                <a:latin typeface="Maiandra GD" panose="020E0502030308020204" pitchFamily="34" charset="0"/>
              </a:rPr>
              <a:t>Are all the  components of a lesson plan well brought out and in the correct format (</a:t>
            </a:r>
            <a:r>
              <a:rPr lang="en-GB" sz="2400" dirty="0" err="1">
                <a:latin typeface="Maiandra GD" panose="020E0502030308020204" pitchFamily="34" charset="0"/>
              </a:rPr>
              <a:t>e.g</a:t>
            </a:r>
            <a:r>
              <a:rPr lang="en-GB" sz="2400" dirty="0">
                <a:latin typeface="Maiandra GD" panose="020E0502030308020204" pitchFamily="34" charset="0"/>
              </a:rPr>
              <a:t> KIQ’s, learning resources,  Lesson development steps, conclusion etc)</a:t>
            </a:r>
          </a:p>
          <a:p>
            <a:pPr marL="514350" indent="-514350">
              <a:buFont typeface="+mj-lt"/>
              <a:buAutoNum type="arabicPeriod"/>
            </a:pPr>
            <a:r>
              <a:rPr lang="en-GB" sz="2400" dirty="0">
                <a:latin typeface="Maiandra GD" panose="020E0502030308020204" pitchFamily="34" charset="0"/>
              </a:rPr>
              <a:t>Does the teacher provide a critical analysis of the lesson in the reflection column? What went well? what did not work?  How can future lessons be improved?  </a:t>
            </a:r>
          </a:p>
          <a:p>
            <a:pPr marL="514350" indent="-514350">
              <a:buFont typeface="+mj-lt"/>
              <a:buAutoNum type="arabicPeriod"/>
            </a:pPr>
            <a:endParaRPr lang="en-GB" sz="2400" dirty="0">
              <a:latin typeface="Maiandra GD" panose="020E0502030308020204" pitchFamily="34" charset="0"/>
            </a:endParaRPr>
          </a:p>
          <a:p>
            <a:pPr marL="514350" indent="-514350">
              <a:buFont typeface="+mj-lt"/>
              <a:buAutoNum type="arabicPeriod"/>
            </a:pPr>
            <a:endParaRPr lang="en-GB" dirty="0"/>
          </a:p>
        </p:txBody>
      </p:sp>
      <p:sp>
        <p:nvSpPr>
          <p:cNvPr id="2" name="Rectangle 1"/>
          <p:cNvSpPr/>
          <p:nvPr/>
        </p:nvSpPr>
        <p:spPr>
          <a:xfrm>
            <a:off x="-40413" y="91559"/>
            <a:ext cx="4852558" cy="584775"/>
          </a:xfrm>
          <a:prstGeom prst="rect">
            <a:avLst/>
          </a:prstGeom>
        </p:spPr>
        <p:txBody>
          <a:bodyPr wrap="square">
            <a:spAutoFit/>
          </a:bodyPr>
          <a:lstStyle/>
          <a:p>
            <a:r>
              <a:rPr lang="en-GB" sz="3200" b="1" dirty="0"/>
              <a:t>POINTS TO NOTE</a:t>
            </a: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01875"/>
            <a:ext cx="12192000" cy="5083290"/>
          </a:xfrm>
        </p:spPr>
        <p:txBody>
          <a:bodyPr/>
          <a:lstStyle/>
          <a:p>
            <a:pPr marL="0" indent="0" algn="ctr">
              <a:buNone/>
            </a:pPr>
            <a:endParaRPr lang="en-GB" sz="3600" b="1" dirty="0">
              <a:latin typeface="Times New Roman" panose="02020603050405020304" pitchFamily="18" charset="0"/>
              <a:cs typeface="Times New Roman" panose="02020603050405020304" pitchFamily="18" charset="0"/>
            </a:endParaRPr>
          </a:p>
          <a:p>
            <a:pPr marL="0" indent="0" algn="ctr">
              <a:buNone/>
            </a:pPr>
            <a:r>
              <a:rPr lang="en-GB" sz="3600" b="1" dirty="0">
                <a:latin typeface="Times New Roman" panose="02020603050405020304" pitchFamily="18" charset="0"/>
                <a:cs typeface="Times New Roman" panose="02020603050405020304" pitchFamily="18" charset="0"/>
              </a:rPr>
              <a:t>Activity 6</a:t>
            </a:r>
          </a:p>
          <a:p>
            <a:pPr marL="514350" indent="-514350">
              <a:buAutoNum type="arabicPeriod"/>
            </a:pPr>
            <a:r>
              <a:rPr lang="en-GB" sz="3600" dirty="0">
                <a:latin typeface="Times New Roman" panose="02020603050405020304" pitchFamily="18" charset="0"/>
                <a:cs typeface="Times New Roman" panose="02020603050405020304" pitchFamily="18" charset="0"/>
              </a:rPr>
              <a:t>What are the components of a record of work?</a:t>
            </a:r>
          </a:p>
          <a:p>
            <a:pPr marL="514350" indent="-514350">
              <a:buAutoNum type="arabicPeriod"/>
            </a:pPr>
            <a:r>
              <a:rPr lang="en-GB" sz="3600" dirty="0">
                <a:latin typeface="Times New Roman" panose="02020603050405020304" pitchFamily="18" charset="0"/>
                <a:cs typeface="Times New Roman" panose="02020603050405020304" pitchFamily="18" charset="0"/>
              </a:rPr>
              <a:t>Why should teachers prepare  a record of work for each subject?</a:t>
            </a:r>
          </a:p>
          <a:p>
            <a:pPr marL="514350" indent="-514350">
              <a:buAutoNum type="arabicPeriod"/>
            </a:pPr>
            <a:r>
              <a:rPr lang="en-GB" sz="3600" dirty="0">
                <a:latin typeface="Times New Roman" panose="02020603050405020304" pitchFamily="18" charset="0"/>
                <a:cs typeface="Times New Roman" panose="02020603050405020304" pitchFamily="18" charset="0"/>
              </a:rPr>
              <a:t>Prepare a one-week record of work and present in a plenary.</a:t>
            </a:r>
          </a:p>
          <a:p>
            <a:pPr marL="514350" indent="-514350">
              <a:buFont typeface="+mj-lt"/>
              <a:buAutoNum type="arabicPeriod"/>
            </a:pPr>
            <a:endParaRPr lang="en-GB" dirty="0"/>
          </a:p>
        </p:txBody>
      </p:sp>
      <p:sp>
        <p:nvSpPr>
          <p:cNvPr id="2" name="Rectangle 1"/>
          <p:cNvSpPr/>
          <p:nvPr/>
        </p:nvSpPr>
        <p:spPr>
          <a:xfrm>
            <a:off x="184726" y="106549"/>
            <a:ext cx="12007274" cy="584775"/>
          </a:xfrm>
          <a:prstGeom prst="rect">
            <a:avLst/>
          </a:prstGeom>
        </p:spPr>
        <p:txBody>
          <a:bodyPr wrap="square">
            <a:spAutoFit/>
          </a:bodyPr>
          <a:lstStyle/>
          <a:p>
            <a:pPr algn="ctr"/>
            <a:r>
              <a:rPr lang="en-GB" sz="3200" b="1" dirty="0">
                <a:latin typeface="Times New Roman" panose="02020603050405020304" pitchFamily="18" charset="0"/>
                <a:cs typeface="Times New Roman" panose="02020603050405020304" pitchFamily="18" charset="0"/>
              </a:rPr>
              <a:t>RECORD OF WORK </a:t>
            </a: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63839338"/>
              </p:ext>
            </p:extLst>
          </p:nvPr>
        </p:nvGraphicFramePr>
        <p:xfrm>
          <a:off x="0" y="1576552"/>
          <a:ext cx="12118428" cy="2560320"/>
        </p:xfrm>
        <a:graphic>
          <a:graphicData uri="http://schemas.openxmlformats.org/drawingml/2006/table">
            <a:tbl>
              <a:tblPr firstRow="1" firstCol="1" bandRow="1">
                <a:tableStyleId>{5C22544A-7EE6-4342-B048-85BDC9FD1C3A}</a:tableStyleId>
              </a:tblPr>
              <a:tblGrid>
                <a:gridCol w="2762397">
                  <a:extLst>
                    <a:ext uri="{9D8B030D-6E8A-4147-A177-3AD203B41FA5}">
                      <a16:colId xmlns:a16="http://schemas.microsoft.com/office/drawing/2014/main" val="20000"/>
                    </a:ext>
                  </a:extLst>
                </a:gridCol>
                <a:gridCol w="9356031">
                  <a:extLst>
                    <a:ext uri="{9D8B030D-6E8A-4147-A177-3AD203B41FA5}">
                      <a16:colId xmlns:a16="http://schemas.microsoft.com/office/drawing/2014/main" val="20001"/>
                    </a:ext>
                  </a:extLst>
                </a:gridCol>
              </a:tblGrid>
              <a:tr h="334038">
                <a:tc gridSpan="2">
                  <a:txBody>
                    <a:bodyPr/>
                    <a:lstStyle/>
                    <a:p>
                      <a:pPr marL="0" marR="0">
                        <a:lnSpc>
                          <a:spcPct val="150000"/>
                        </a:lnSpc>
                        <a:spcBef>
                          <a:spcPts val="0"/>
                        </a:spcBef>
                        <a:spcAft>
                          <a:spcPts val="0"/>
                        </a:spcAft>
                      </a:pPr>
                      <a:r>
                        <a:rPr lang="en-GB" sz="1600" dirty="0">
                          <a:effectLst/>
                        </a:rPr>
                        <a:t>Administrative Details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334038">
                <a:tc>
                  <a:txBody>
                    <a:bodyPr/>
                    <a:lstStyle/>
                    <a:p>
                      <a:pPr marL="0" marR="0">
                        <a:lnSpc>
                          <a:spcPct val="150000"/>
                        </a:lnSpc>
                        <a:spcBef>
                          <a:spcPts val="0"/>
                        </a:spcBef>
                        <a:spcAft>
                          <a:spcPts val="0"/>
                        </a:spcAft>
                      </a:pPr>
                      <a:r>
                        <a:rPr lang="en-GB" sz="1600" dirty="0">
                          <a:effectLst/>
                        </a:rPr>
                        <a:t>School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Hope Junior School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34038">
                <a:tc>
                  <a:txBody>
                    <a:bodyPr/>
                    <a:lstStyle/>
                    <a:p>
                      <a:pPr marL="0" marR="0">
                        <a:lnSpc>
                          <a:spcPct val="150000"/>
                        </a:lnSpc>
                        <a:spcBef>
                          <a:spcPts val="0"/>
                        </a:spcBef>
                        <a:spcAft>
                          <a:spcPts val="0"/>
                        </a:spcAft>
                      </a:pPr>
                      <a:r>
                        <a:rPr lang="en-GB" sz="1600">
                          <a:effectLst/>
                        </a:rPr>
                        <a:t>Grade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10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34038">
                <a:tc>
                  <a:txBody>
                    <a:bodyPr/>
                    <a:lstStyle/>
                    <a:p>
                      <a:pPr marL="0" marR="0">
                        <a:lnSpc>
                          <a:spcPct val="150000"/>
                        </a:lnSpc>
                        <a:spcBef>
                          <a:spcPts val="0"/>
                        </a:spcBef>
                        <a:spcAft>
                          <a:spcPts val="0"/>
                        </a:spcAft>
                      </a:pPr>
                      <a:r>
                        <a:rPr lang="en-GB" sz="1600" dirty="0">
                          <a:effectLst/>
                        </a:rPr>
                        <a:t>Subject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English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34038">
                <a:tc>
                  <a:txBody>
                    <a:bodyPr/>
                    <a:lstStyle/>
                    <a:p>
                      <a:pPr marL="0" marR="0">
                        <a:lnSpc>
                          <a:spcPct val="150000"/>
                        </a:lnSpc>
                        <a:spcBef>
                          <a:spcPts val="0"/>
                        </a:spcBef>
                        <a:spcAft>
                          <a:spcPts val="0"/>
                        </a:spcAft>
                      </a:pPr>
                      <a:r>
                        <a:rPr lang="en-GB" sz="1600">
                          <a:effectLst/>
                        </a:rPr>
                        <a:t>Year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2025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34038">
                <a:tc>
                  <a:txBody>
                    <a:bodyPr/>
                    <a:lstStyle/>
                    <a:p>
                      <a:pPr marL="0" marR="0">
                        <a:lnSpc>
                          <a:spcPct val="150000"/>
                        </a:lnSpc>
                        <a:spcBef>
                          <a:spcPts val="0"/>
                        </a:spcBef>
                        <a:spcAft>
                          <a:spcPts val="0"/>
                        </a:spcAft>
                      </a:pPr>
                      <a:r>
                        <a:rPr lang="en-GB" sz="1600" dirty="0">
                          <a:effectLst/>
                        </a:rPr>
                        <a:t>Term</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34038">
                <a:tc>
                  <a:txBody>
                    <a:bodyPr/>
                    <a:lstStyle/>
                    <a:p>
                      <a:pPr marL="0" marR="0">
                        <a:lnSpc>
                          <a:spcPct val="150000"/>
                        </a:lnSpc>
                        <a:spcBef>
                          <a:spcPts val="0"/>
                        </a:spcBef>
                        <a:spcAft>
                          <a:spcPts val="0"/>
                        </a:spcAft>
                      </a:pPr>
                      <a:r>
                        <a:rPr lang="en-GB" sz="1600" dirty="0">
                          <a:effectLst/>
                        </a:rPr>
                        <a:t>Teacher’s Details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600" dirty="0">
                          <a:effectLst/>
                        </a:rPr>
                        <a:t>Name: Mercy Kemi               TSC No. 000111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44007166"/>
              </p:ext>
            </p:extLst>
          </p:nvPr>
        </p:nvGraphicFramePr>
        <p:xfrm>
          <a:off x="73572" y="4209554"/>
          <a:ext cx="12118428" cy="2057400"/>
        </p:xfrm>
        <a:graphic>
          <a:graphicData uri="http://schemas.openxmlformats.org/drawingml/2006/table">
            <a:tbl>
              <a:tblPr firstRow="1" firstCol="1" bandRow="1">
                <a:tableStyleId>{5C22544A-7EE6-4342-B048-85BDC9FD1C3A}</a:tableStyleId>
              </a:tblPr>
              <a:tblGrid>
                <a:gridCol w="1585090">
                  <a:extLst>
                    <a:ext uri="{9D8B030D-6E8A-4147-A177-3AD203B41FA5}">
                      <a16:colId xmlns:a16="http://schemas.microsoft.com/office/drawing/2014/main" val="20000"/>
                    </a:ext>
                  </a:extLst>
                </a:gridCol>
                <a:gridCol w="1376654">
                  <a:extLst>
                    <a:ext uri="{9D8B030D-6E8A-4147-A177-3AD203B41FA5}">
                      <a16:colId xmlns:a16="http://schemas.microsoft.com/office/drawing/2014/main" val="20001"/>
                    </a:ext>
                  </a:extLst>
                </a:gridCol>
                <a:gridCol w="1374230">
                  <a:extLst>
                    <a:ext uri="{9D8B030D-6E8A-4147-A177-3AD203B41FA5}">
                      <a16:colId xmlns:a16="http://schemas.microsoft.com/office/drawing/2014/main" val="20002"/>
                    </a:ext>
                  </a:extLst>
                </a:gridCol>
                <a:gridCol w="1374230">
                  <a:extLst>
                    <a:ext uri="{9D8B030D-6E8A-4147-A177-3AD203B41FA5}">
                      <a16:colId xmlns:a16="http://schemas.microsoft.com/office/drawing/2014/main" val="20003"/>
                    </a:ext>
                  </a:extLst>
                </a:gridCol>
                <a:gridCol w="1791104">
                  <a:extLst>
                    <a:ext uri="{9D8B030D-6E8A-4147-A177-3AD203B41FA5}">
                      <a16:colId xmlns:a16="http://schemas.microsoft.com/office/drawing/2014/main" val="20004"/>
                    </a:ext>
                  </a:extLst>
                </a:gridCol>
                <a:gridCol w="4617120">
                  <a:extLst>
                    <a:ext uri="{9D8B030D-6E8A-4147-A177-3AD203B41FA5}">
                      <a16:colId xmlns:a16="http://schemas.microsoft.com/office/drawing/2014/main" val="20005"/>
                    </a:ext>
                  </a:extLst>
                </a:gridCol>
              </a:tblGrid>
              <a:tr h="366773">
                <a:tc>
                  <a:txBody>
                    <a:bodyPr/>
                    <a:lstStyle/>
                    <a:p>
                      <a:pPr marL="0" marR="0">
                        <a:lnSpc>
                          <a:spcPct val="150000"/>
                        </a:lnSpc>
                        <a:spcBef>
                          <a:spcPts val="0"/>
                        </a:spcBef>
                        <a:spcAft>
                          <a:spcPts val="0"/>
                        </a:spcAft>
                      </a:pPr>
                      <a:r>
                        <a:rPr lang="en-GB" sz="1800" kern="100" dirty="0">
                          <a:effectLst/>
                        </a:rPr>
                        <a:t>Date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kern="100">
                          <a:effectLst/>
                        </a:rPr>
                        <a:t>Week</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kern="100">
                          <a:effectLst/>
                        </a:rPr>
                        <a:t>Lesson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kern="100" dirty="0">
                          <a:effectLst/>
                        </a:rPr>
                        <a:t>Strand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kern="100" dirty="0">
                          <a:effectLst/>
                        </a:rPr>
                        <a:t>Sub strand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GB" sz="1800" kern="100">
                          <a:effectLst/>
                        </a:rPr>
                        <a:t>Work Done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599921">
                <a:tc>
                  <a:txBody>
                    <a:bodyPr/>
                    <a:lstStyle/>
                    <a:p>
                      <a:pPr marL="0" marR="0">
                        <a:lnSpc>
                          <a:spcPct val="150000"/>
                        </a:lnSpc>
                        <a:spcBef>
                          <a:spcPts val="0"/>
                        </a:spcBef>
                        <a:spcAft>
                          <a:spcPts val="0"/>
                        </a:spcAft>
                      </a:pPr>
                      <a:r>
                        <a:rPr lang="en-GB" sz="1800" kern="100" dirty="0">
                          <a:effectLst/>
                        </a:rPr>
                        <a:t>7/09/2025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0"/>
                        </a:spcAft>
                      </a:pPr>
                      <a:r>
                        <a:rPr lang="en-US" sz="1800" kern="100" dirty="0">
                          <a:effectLst/>
                        </a:rPr>
                        <a:t>1</a:t>
                      </a:r>
                      <a:endParaRPr lang="en-US" sz="1800" kern="100" dirty="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0"/>
                        </a:spcAft>
                      </a:pPr>
                      <a:r>
                        <a:rPr lang="en-US" sz="1800" kern="100">
                          <a:effectLst/>
                        </a:rPr>
                        <a:t>1</a:t>
                      </a:r>
                      <a:endParaRPr lang="en-US" sz="1800" kern="10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0"/>
                        </a:spcAft>
                      </a:pPr>
                      <a:r>
                        <a:rPr lang="en-US" sz="1800" kern="100" dirty="0">
                          <a:effectLst/>
                        </a:rPr>
                        <a:t>Listening and speaking</a:t>
                      </a:r>
                    </a:p>
                    <a:p>
                      <a:pPr>
                        <a:lnSpc>
                          <a:spcPct val="150000"/>
                        </a:lnSpc>
                        <a:spcAft>
                          <a:spcPts val="0"/>
                        </a:spcAft>
                      </a:pPr>
                      <a:r>
                        <a:rPr lang="en-GB" sz="1800" kern="100" dirty="0">
                          <a:effectLst/>
                        </a:rPr>
                        <a:t> </a:t>
                      </a:r>
                      <a:endParaRPr lang="en-US" sz="1800" kern="100" dirty="0">
                        <a:effectLst/>
                        <a:latin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0"/>
                        </a:spcAft>
                      </a:pPr>
                      <a:r>
                        <a:rPr lang="en-US" sz="1800" kern="100" dirty="0">
                          <a:effectLst/>
                        </a:rPr>
                        <a:t>Oral presentations</a:t>
                      </a:r>
                    </a:p>
                    <a:p>
                      <a:pPr marL="228600" marR="0">
                        <a:lnSpc>
                          <a:spcPct val="150000"/>
                        </a:lnSpc>
                        <a:spcBef>
                          <a:spcPts val="0"/>
                        </a:spcBef>
                        <a:spcAft>
                          <a:spcPts val="0"/>
                        </a:spcAft>
                      </a:pPr>
                      <a:r>
                        <a:rPr lang="en-GB" sz="1800" kern="100" dirty="0">
                          <a:effectLst/>
                        </a:rPr>
                        <a:t> </a:t>
                      </a:r>
                      <a:endParaRPr lang="en-US" sz="1800" kern="100" dirty="0">
                        <a:effectLst/>
                      </a:endParaRPr>
                    </a:p>
                    <a:p>
                      <a:pPr marL="0" marR="0">
                        <a:lnSpc>
                          <a:spcPct val="150000"/>
                        </a:lnSpc>
                        <a:spcBef>
                          <a:spcPts val="0"/>
                        </a:spcBef>
                        <a:spcAft>
                          <a:spcPts val="0"/>
                        </a:spcAft>
                      </a:pPr>
                      <a:r>
                        <a:rPr lang="en-GB" sz="1800" kern="100" dirty="0">
                          <a:effectLst/>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800" kern="100" dirty="0">
                          <a:effectLst/>
                        </a:rPr>
                        <a:t>Oral Narratives</a:t>
                      </a:r>
                    </a:p>
                    <a:p>
                      <a:pPr>
                        <a:lnSpc>
                          <a:spcPct val="150000"/>
                        </a:lnSpc>
                        <a:spcAft>
                          <a:spcPts val="0"/>
                        </a:spcAft>
                      </a:pPr>
                      <a:r>
                        <a:rPr lang="en-US" sz="1800" kern="100" dirty="0">
                          <a:effectLst/>
                        </a:rPr>
                        <a:t> </a:t>
                      </a:r>
                      <a:endParaRPr lang="en-US" sz="1800" kern="1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2"/>
          <p:cNvSpPr>
            <a:spLocks noChangeArrowheads="1"/>
          </p:cNvSpPr>
          <p:nvPr/>
        </p:nvSpPr>
        <p:spPr bwMode="auto">
          <a:xfrm>
            <a:off x="3182980" y="919095"/>
            <a:ext cx="64627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Sample Record of Work Covered </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4164496"/>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CF783C-C73C-A126-77FB-13E8BCF4FC58}"/>
              </a:ext>
            </a:extLst>
          </p:cNvPr>
          <p:cNvSpPr txBox="1"/>
          <p:nvPr/>
        </p:nvSpPr>
        <p:spPr>
          <a:xfrm>
            <a:off x="180109" y="238129"/>
            <a:ext cx="9628909" cy="646331"/>
          </a:xfrm>
          <a:prstGeom prst="rect">
            <a:avLst/>
          </a:prstGeom>
          <a:noFill/>
        </p:spPr>
        <p:txBody>
          <a:bodyPr wrap="square">
            <a:spAutoFit/>
          </a:bodyPr>
          <a:lstStyle/>
          <a:p>
            <a:r>
              <a:rPr kumimoji="0" lang="en-US" sz="3600" b="1"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Individualised</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Education Programme (IEP)</a:t>
            </a:r>
            <a:endParaRPr lang="en-US"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0CEF329-DCAA-0C2F-61BD-C1EFACC0C24A}"/>
              </a:ext>
            </a:extLst>
          </p:cNvPr>
          <p:cNvSpPr txBox="1"/>
          <p:nvPr/>
        </p:nvSpPr>
        <p:spPr>
          <a:xfrm>
            <a:off x="1" y="884460"/>
            <a:ext cx="12192000" cy="6055504"/>
          </a:xfrm>
          <a:prstGeom prst="rect">
            <a:avLst/>
          </a:prstGeom>
          <a:noFill/>
        </p:spPr>
        <p:txBody>
          <a:bodyPr wrap="square">
            <a:spAutoFit/>
          </a:bodyPr>
          <a:lstStyle/>
          <a:p>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An IEP serves to support </a:t>
            </a:r>
            <a:r>
              <a:rPr lang="en-US" sz="2800" dirty="0">
                <a:solidFill>
                  <a:prstClr val="black"/>
                </a:solidFill>
                <a:latin typeface="Times New Roman" panose="02020603050405020304" pitchFamily="18" charset="0"/>
                <a:cs typeface="Times New Roman" panose="02020603050405020304" pitchFamily="18" charset="0"/>
              </a:rPr>
              <a:t>learners</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facing learning challenges, helping them attain learning outcomes through implementation </a:t>
            </a:r>
            <a:r>
              <a:rPr lang="en-US" sz="2800" dirty="0">
                <a:solidFill>
                  <a:prstClr val="black"/>
                </a:solidFill>
                <a:latin typeface="Times New Roman" panose="02020603050405020304" pitchFamily="18" charset="0"/>
                <a:cs typeface="Times New Roman" panose="02020603050405020304" pitchFamily="18" charset="0"/>
              </a:rPr>
              <a:t>of educational interventions. Learning experiences are</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personalised</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to cultivate a richer, more inclusive environment </a:t>
            </a:r>
            <a:r>
              <a:rPr kumimoji="0" lang="en-US" sz="28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for learners with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learning difficulties in the classroom.</a:t>
            </a:r>
            <a:r>
              <a:rPr lang="en-US" sz="2800" dirty="0">
                <a:solidFill>
                  <a:prstClr val="black"/>
                </a:solidFill>
                <a:latin typeface="Times New Roman" panose="02020603050405020304" pitchFamily="18" charset="0"/>
                <a:cs typeface="Times New Roman" panose="02020603050405020304" pitchFamily="18" charset="0"/>
              </a:rPr>
              <a:t> The IEP;</a:t>
            </a:r>
          </a:p>
          <a:p>
            <a:pPr marL="457200" indent="-457200" algn="l">
              <a:spcBef>
                <a:spcPts val="900"/>
              </a:spcBef>
              <a:buFont typeface="Arial" panose="020B0604020202020204" pitchFamily="34" charset="0"/>
              <a:buChar char="•"/>
            </a:pPr>
            <a:r>
              <a:rPr lang="en-US" sz="2400" i="0" dirty="0" err="1">
                <a:effectLst/>
                <a:latin typeface="Times New Roman" panose="02020603050405020304" pitchFamily="18" charset="0"/>
                <a:cs typeface="Times New Roman" panose="02020603050405020304" pitchFamily="18" charset="0"/>
              </a:rPr>
              <a:t>Personalises</a:t>
            </a:r>
            <a:r>
              <a:rPr lang="en-US" sz="2400" i="0" dirty="0">
                <a:effectLst/>
                <a:latin typeface="Times New Roman" panose="02020603050405020304" pitchFamily="18" charset="0"/>
                <a:cs typeface="Times New Roman" panose="02020603050405020304" pitchFamily="18" charset="0"/>
              </a:rPr>
              <a:t> learner Support</a:t>
            </a:r>
          </a:p>
          <a:p>
            <a:pPr marL="457200" indent="-457200" algn="l">
              <a:spcBef>
                <a:spcPts val="1800"/>
              </a:spcBef>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Enables accommodations and modifications in Curriculum experiences to address learners’ needs</a:t>
            </a:r>
          </a:p>
          <a:p>
            <a:pPr marL="457200" indent="-457200" algn="l">
              <a:spcBef>
                <a:spcPts val="1800"/>
              </a:spcBef>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Supports Differentiated Instruction</a:t>
            </a:r>
          </a:p>
          <a:p>
            <a:pPr marL="457200" indent="-457200" algn="l">
              <a:spcBef>
                <a:spcPts val="1800"/>
              </a:spcBef>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Ensures regular </a:t>
            </a:r>
            <a:r>
              <a:rPr lang="en-US" sz="2400" dirty="0">
                <a:latin typeface="Times New Roman" panose="02020603050405020304" pitchFamily="18" charset="0"/>
                <a:cs typeface="Times New Roman" panose="02020603050405020304" pitchFamily="18" charset="0"/>
              </a:rPr>
              <a:t>m</a:t>
            </a:r>
            <a:r>
              <a:rPr lang="en-US" sz="2400" i="0" dirty="0">
                <a:effectLst/>
                <a:latin typeface="Times New Roman" panose="02020603050405020304" pitchFamily="18" charset="0"/>
                <a:cs typeface="Times New Roman" panose="02020603050405020304" pitchFamily="18" charset="0"/>
              </a:rPr>
              <a:t>onitoring and assessment of Learner’s Progress</a:t>
            </a:r>
          </a:p>
          <a:p>
            <a:pPr marL="457200" indent="-457200" algn="l">
              <a:spcBef>
                <a:spcPts val="1800"/>
              </a:spcBef>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Fosters an Inclusive Environment</a:t>
            </a:r>
          </a:p>
          <a:p>
            <a:endParaRPr lang="en-US" sz="3200" dirty="0">
              <a:solidFill>
                <a:prstClr val="black"/>
              </a:solidFill>
              <a:latin typeface="D-DINExp"/>
            </a:endParaRPr>
          </a:p>
          <a:p>
            <a:endParaRPr lang="en-US" sz="3200" dirty="0"/>
          </a:p>
        </p:txBody>
      </p:sp>
    </p:spTree>
    <p:extLst>
      <p:ext uri="{BB962C8B-B14F-4D97-AF65-F5344CB8AC3E}">
        <p14:creationId xmlns:p14="http://schemas.microsoft.com/office/powerpoint/2010/main" val="423825775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3A2DC77-830A-72B9-64B7-802FC5B254F1}"/>
              </a:ext>
            </a:extLst>
          </p:cNvPr>
          <p:cNvGraphicFramePr>
            <a:graphicFrameLocks noGrp="1"/>
          </p:cNvGraphicFramePr>
          <p:nvPr>
            <p:extLst>
              <p:ext uri="{D42A27DB-BD31-4B8C-83A1-F6EECF244321}">
                <p14:modId xmlns:p14="http://schemas.microsoft.com/office/powerpoint/2010/main" val="1982874030"/>
              </p:ext>
            </p:extLst>
          </p:nvPr>
        </p:nvGraphicFramePr>
        <p:xfrm>
          <a:off x="62344" y="920568"/>
          <a:ext cx="12067311" cy="5422062"/>
        </p:xfrm>
        <a:graphic>
          <a:graphicData uri="http://schemas.openxmlformats.org/drawingml/2006/table">
            <a:tbl>
              <a:tblPr firstRow="1" firstCol="1" bandRow="1">
                <a:tableStyleId>{5C22544A-7EE6-4342-B048-85BDC9FD1C3A}</a:tableStyleId>
              </a:tblPr>
              <a:tblGrid>
                <a:gridCol w="1198420">
                  <a:extLst>
                    <a:ext uri="{9D8B030D-6E8A-4147-A177-3AD203B41FA5}">
                      <a16:colId xmlns:a16="http://schemas.microsoft.com/office/drawing/2014/main" val="1947378393"/>
                    </a:ext>
                  </a:extLst>
                </a:gridCol>
                <a:gridCol w="886691">
                  <a:extLst>
                    <a:ext uri="{9D8B030D-6E8A-4147-A177-3AD203B41FA5}">
                      <a16:colId xmlns:a16="http://schemas.microsoft.com/office/drawing/2014/main" val="1708856701"/>
                    </a:ext>
                  </a:extLst>
                </a:gridCol>
                <a:gridCol w="928254">
                  <a:extLst>
                    <a:ext uri="{9D8B030D-6E8A-4147-A177-3AD203B41FA5}">
                      <a16:colId xmlns:a16="http://schemas.microsoft.com/office/drawing/2014/main" val="1188064621"/>
                    </a:ext>
                  </a:extLst>
                </a:gridCol>
                <a:gridCol w="1025236">
                  <a:extLst>
                    <a:ext uri="{9D8B030D-6E8A-4147-A177-3AD203B41FA5}">
                      <a16:colId xmlns:a16="http://schemas.microsoft.com/office/drawing/2014/main" val="53904727"/>
                    </a:ext>
                  </a:extLst>
                </a:gridCol>
                <a:gridCol w="942110">
                  <a:extLst>
                    <a:ext uri="{9D8B030D-6E8A-4147-A177-3AD203B41FA5}">
                      <a16:colId xmlns:a16="http://schemas.microsoft.com/office/drawing/2014/main" val="1766915433"/>
                    </a:ext>
                  </a:extLst>
                </a:gridCol>
                <a:gridCol w="1233054">
                  <a:extLst>
                    <a:ext uri="{9D8B030D-6E8A-4147-A177-3AD203B41FA5}">
                      <a16:colId xmlns:a16="http://schemas.microsoft.com/office/drawing/2014/main" val="3035648822"/>
                    </a:ext>
                  </a:extLst>
                </a:gridCol>
                <a:gridCol w="1136073">
                  <a:extLst>
                    <a:ext uri="{9D8B030D-6E8A-4147-A177-3AD203B41FA5}">
                      <a16:colId xmlns:a16="http://schemas.microsoft.com/office/drawing/2014/main" val="660005575"/>
                    </a:ext>
                  </a:extLst>
                </a:gridCol>
                <a:gridCol w="1025236">
                  <a:extLst>
                    <a:ext uri="{9D8B030D-6E8A-4147-A177-3AD203B41FA5}">
                      <a16:colId xmlns:a16="http://schemas.microsoft.com/office/drawing/2014/main" val="759264853"/>
                    </a:ext>
                  </a:extLst>
                </a:gridCol>
                <a:gridCol w="928255">
                  <a:extLst>
                    <a:ext uri="{9D8B030D-6E8A-4147-A177-3AD203B41FA5}">
                      <a16:colId xmlns:a16="http://schemas.microsoft.com/office/drawing/2014/main" val="4104434988"/>
                    </a:ext>
                  </a:extLst>
                </a:gridCol>
                <a:gridCol w="1399309">
                  <a:extLst>
                    <a:ext uri="{9D8B030D-6E8A-4147-A177-3AD203B41FA5}">
                      <a16:colId xmlns:a16="http://schemas.microsoft.com/office/drawing/2014/main" val="585087573"/>
                    </a:ext>
                  </a:extLst>
                </a:gridCol>
                <a:gridCol w="1364673">
                  <a:extLst>
                    <a:ext uri="{9D8B030D-6E8A-4147-A177-3AD203B41FA5}">
                      <a16:colId xmlns:a16="http://schemas.microsoft.com/office/drawing/2014/main" val="425127139"/>
                    </a:ext>
                  </a:extLst>
                </a:gridCol>
              </a:tblGrid>
              <a:tr h="2020164">
                <a:tc gridSpan="11">
                  <a:txBody>
                    <a:bodyPr/>
                    <a:lstStyle/>
                    <a:p>
                      <a:pPr marL="0" marR="0" algn="l">
                        <a:lnSpc>
                          <a:spcPct val="150000"/>
                        </a:lnSpc>
                        <a:spcAft>
                          <a:spcPts val="800"/>
                        </a:spcAft>
                        <a:buNone/>
                      </a:pPr>
                      <a:r>
                        <a:rPr lang="en-US" sz="1800" dirty="0">
                          <a:effectLst/>
                        </a:rPr>
                        <a:t>Administrative Details</a:t>
                      </a:r>
                    </a:p>
                    <a:p>
                      <a:pPr marL="0" marR="0" algn="l">
                        <a:lnSpc>
                          <a:spcPct val="150000"/>
                        </a:lnSpc>
                        <a:spcAft>
                          <a:spcPts val="800"/>
                        </a:spcAft>
                        <a:buNone/>
                      </a:pPr>
                      <a:r>
                        <a:rPr lang="en-US" sz="1800" dirty="0">
                          <a:effectLst/>
                        </a:rPr>
                        <a:t>Name of the School:                                                                                        Level/Grade:</a:t>
                      </a:r>
                    </a:p>
                    <a:p>
                      <a:pPr marL="0" marR="0" algn="l">
                        <a:lnSpc>
                          <a:spcPct val="150000"/>
                        </a:lnSpc>
                        <a:spcAft>
                          <a:spcPts val="800"/>
                        </a:spcAft>
                        <a:buNone/>
                      </a:pPr>
                      <a:r>
                        <a:rPr lang="en-US" sz="1800" dirty="0">
                          <a:effectLst/>
                        </a:rPr>
                        <a:t>Subject:                                                                                                                 Teacher’s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11669334"/>
                  </a:ext>
                </a:extLst>
              </a:tr>
              <a:tr h="1579020">
                <a:tc>
                  <a:txBody>
                    <a:bodyPr/>
                    <a:lstStyle/>
                    <a:p>
                      <a:pPr marL="0" marR="0" algn="l">
                        <a:lnSpc>
                          <a:spcPct val="150000"/>
                        </a:lnSpc>
                        <a:spcAft>
                          <a:spcPts val="800"/>
                        </a:spcAft>
                        <a:buNone/>
                      </a:pPr>
                      <a:r>
                        <a:rPr lang="en-US" sz="1800">
                          <a:effectLst/>
                        </a:rPr>
                        <a:t>Name of the Learner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Strand and Sub strand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Areas of strengths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Areas of Need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Specific Learning out comes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dirty="0">
                          <a:effectLst/>
                        </a:rPr>
                        <a:t>Learning experiences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Resources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Assessment methods and tools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Date of initiation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dirty="0">
                          <a:effectLst/>
                        </a:rPr>
                        <a:t>Date of Termination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dirty="0">
                          <a:effectLst/>
                        </a:rPr>
                        <a:t>Reflection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extLst>
                  <a:ext uri="{0D108BD9-81ED-4DB2-BD59-A6C34878D82A}">
                    <a16:rowId xmlns:a16="http://schemas.microsoft.com/office/drawing/2014/main" val="1240231892"/>
                  </a:ext>
                </a:extLst>
              </a:tr>
              <a:tr h="585326">
                <a:tc>
                  <a:txBody>
                    <a:bodyPr/>
                    <a:lstStyle/>
                    <a:p>
                      <a:pPr marL="0" marR="0" algn="l">
                        <a:lnSpc>
                          <a:spcPct val="150000"/>
                        </a:lnSpc>
                        <a:spcAft>
                          <a:spcPts val="800"/>
                        </a:spcAft>
                        <a:buNone/>
                      </a:pPr>
                      <a:r>
                        <a:rPr lang="en-US" sz="1800">
                          <a:effectLst/>
                        </a:rPr>
                        <a:t>James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extLst>
                  <a:ext uri="{0D108BD9-81ED-4DB2-BD59-A6C34878D82A}">
                    <a16:rowId xmlns:a16="http://schemas.microsoft.com/office/drawing/2014/main" val="3680177361"/>
                  </a:ext>
                </a:extLst>
              </a:tr>
              <a:tr h="585326">
                <a:tc>
                  <a:txBody>
                    <a:bodyPr/>
                    <a:lstStyle/>
                    <a:p>
                      <a:pPr marL="0" marR="0" algn="l">
                        <a:lnSpc>
                          <a:spcPct val="150000"/>
                        </a:lnSpc>
                        <a:spcAft>
                          <a:spcPts val="800"/>
                        </a:spcAft>
                        <a:buNone/>
                      </a:pPr>
                      <a:r>
                        <a:rPr lang="en-US" sz="1800">
                          <a:effectLst/>
                        </a:rPr>
                        <a:t>Peter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extLst>
                  <a:ext uri="{0D108BD9-81ED-4DB2-BD59-A6C34878D82A}">
                    <a16:rowId xmlns:a16="http://schemas.microsoft.com/office/drawing/2014/main" val="1302320749"/>
                  </a:ext>
                </a:extLst>
              </a:tr>
              <a:tr h="585326">
                <a:tc>
                  <a:txBody>
                    <a:bodyPr/>
                    <a:lstStyle/>
                    <a:p>
                      <a:pPr marL="0" marR="0" algn="l">
                        <a:lnSpc>
                          <a:spcPct val="150000"/>
                        </a:lnSpc>
                        <a:spcAft>
                          <a:spcPts val="800"/>
                        </a:spcAft>
                        <a:buNone/>
                      </a:pPr>
                      <a:r>
                        <a:rPr lang="en-US" sz="1800">
                          <a:effectLst/>
                        </a:rPr>
                        <a:t>Mary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tc>
                  <a:txBody>
                    <a:bodyPr/>
                    <a:lstStyle/>
                    <a:p>
                      <a:pPr marL="0" marR="0" algn="l">
                        <a:lnSpc>
                          <a:spcPct val="150000"/>
                        </a:lnSpc>
                        <a:spcAft>
                          <a:spcPts val="800"/>
                        </a:spcAft>
                        <a:buNone/>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2086" marR="62086" marT="0" marB="0"/>
                </a:tc>
                <a:extLst>
                  <a:ext uri="{0D108BD9-81ED-4DB2-BD59-A6C34878D82A}">
                    <a16:rowId xmlns:a16="http://schemas.microsoft.com/office/drawing/2014/main" val="2770371440"/>
                  </a:ext>
                </a:extLst>
              </a:tr>
            </a:tbl>
          </a:graphicData>
        </a:graphic>
      </p:graphicFrame>
      <p:sp>
        <p:nvSpPr>
          <p:cNvPr id="7" name="Rectangle 3">
            <a:extLst>
              <a:ext uri="{FF2B5EF4-FFF2-40B4-BE49-F238E27FC236}">
                <a16:creationId xmlns:a16="http://schemas.microsoft.com/office/drawing/2014/main" id="{A78CC1C9-7CC7-0E44-28A3-75B87AFB710D}"/>
              </a:ext>
            </a:extLst>
          </p:cNvPr>
          <p:cNvSpPr>
            <a:spLocks noChangeArrowheads="1"/>
          </p:cNvSpPr>
          <p:nvPr/>
        </p:nvSpPr>
        <p:spPr bwMode="auto">
          <a:xfrm>
            <a:off x="124691" y="162123"/>
            <a:ext cx="28656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IEP Template</a:t>
            </a:r>
            <a:endParaRPr kumimoji="0" lang="en-GB"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43320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4755" y="417689"/>
            <a:ext cx="9493956" cy="646331"/>
          </a:xfrm>
          <a:prstGeom prst="rect">
            <a:avLst/>
          </a:prstGeom>
          <a:noFill/>
        </p:spPr>
        <p:txBody>
          <a:bodyPr wrap="square" rtlCol="0">
            <a:spAutoFit/>
          </a:bodyPr>
          <a:lstStyle/>
          <a:p>
            <a:r>
              <a:rPr lang="en-US" sz="3600" b="1" dirty="0"/>
              <a:t>CLUSTER  DISCUSSIONS &amp; PRESENTATIONS</a:t>
            </a:r>
          </a:p>
        </p:txBody>
      </p:sp>
      <p:sp>
        <p:nvSpPr>
          <p:cNvPr id="3" name="TextBox 2"/>
          <p:cNvSpPr txBox="1"/>
          <p:nvPr/>
        </p:nvSpPr>
        <p:spPr>
          <a:xfrm>
            <a:off x="0" y="1174044"/>
            <a:ext cx="11729155" cy="4770537"/>
          </a:xfrm>
          <a:prstGeom prst="rect">
            <a:avLst/>
          </a:prstGeom>
          <a:noFill/>
        </p:spPr>
        <p:txBody>
          <a:bodyPr wrap="square" rtlCol="0">
            <a:spAutoFit/>
          </a:bodyPr>
          <a:lstStyle/>
          <a:p>
            <a:pPr lvl="0">
              <a:buClr>
                <a:srgbClr val="000000"/>
              </a:buClr>
            </a:pPr>
            <a:r>
              <a:rPr lang="en-US" sz="2400" b="1" u="sng" kern="0" dirty="0">
                <a:solidFill>
                  <a:srgbClr val="FF0000"/>
                </a:solidFill>
                <a:latin typeface="Arial" panose="020B0604020202020204"/>
                <a:cs typeface="Arial" panose="020B0604020202020204"/>
                <a:sym typeface="Arial" panose="020B0604020202020204"/>
              </a:rPr>
              <a:t>In your cluster area groups:</a:t>
            </a:r>
          </a:p>
          <a:p>
            <a:pPr lvl="0">
              <a:buClr>
                <a:srgbClr val="000000"/>
              </a:buClr>
            </a:pPr>
            <a:r>
              <a:rPr lang="en-US" sz="2000" kern="0" dirty="0">
                <a:solidFill>
                  <a:srgbClr val="000000"/>
                </a:solidFill>
                <a:latin typeface="Arial" panose="020B0604020202020204"/>
                <a:cs typeface="Arial" panose="020B0604020202020204"/>
                <a:sym typeface="Arial" panose="020B0604020202020204"/>
              </a:rPr>
              <a:t>1. Identify and explore all the subjects in the cluster </a:t>
            </a:r>
            <a:r>
              <a:rPr lang="en-GB" sz="2000" kern="0" dirty="0">
                <a:solidFill>
                  <a:srgbClr val="000000"/>
                </a:solidFill>
                <a:latin typeface="Arial" panose="020B0604020202020204"/>
                <a:cs typeface="Arial" panose="020B0604020202020204"/>
                <a:sym typeface="Arial" panose="020B0604020202020204"/>
              </a:rPr>
              <a:t>both the DSTE curriculum (</a:t>
            </a:r>
            <a:r>
              <a:rPr lang="en-GB" sz="2000" b="1" kern="0" dirty="0">
                <a:solidFill>
                  <a:srgbClr val="FF0000"/>
                </a:solidFill>
                <a:latin typeface="Arial" panose="020B0604020202020204"/>
                <a:cs typeface="Arial" panose="020B0604020202020204"/>
                <a:sym typeface="Arial" panose="020B0604020202020204"/>
              </a:rPr>
              <a:t>for teacher trainees)</a:t>
            </a:r>
            <a:r>
              <a:rPr lang="en-GB" sz="2000" kern="0" dirty="0">
                <a:solidFill>
                  <a:srgbClr val="000000"/>
                </a:solidFill>
                <a:latin typeface="Arial" panose="020B0604020202020204"/>
                <a:cs typeface="Arial" panose="020B0604020202020204"/>
                <a:sym typeface="Arial" panose="020B0604020202020204"/>
              </a:rPr>
              <a:t> and that of the </a:t>
            </a:r>
            <a:r>
              <a:rPr lang="en-GB" sz="2000" b="1" kern="0" dirty="0">
                <a:solidFill>
                  <a:srgbClr val="FF0000"/>
                </a:solidFill>
                <a:latin typeface="Arial" panose="020B0604020202020204"/>
                <a:cs typeface="Arial" panose="020B0604020202020204"/>
                <a:sym typeface="Arial" panose="020B0604020202020204"/>
              </a:rPr>
              <a:t>learners at Pre-primary-Grade 1-6 </a:t>
            </a:r>
            <a:endParaRPr lang="en-US" sz="2000" b="1" kern="0" dirty="0">
              <a:solidFill>
                <a:srgbClr val="FF0000"/>
              </a:solidFill>
              <a:latin typeface="Arial" panose="020B0604020202020204"/>
              <a:cs typeface="Arial" panose="020B0604020202020204"/>
              <a:sym typeface="Arial" panose="020B0604020202020204"/>
            </a:endParaRPr>
          </a:p>
          <a:p>
            <a:pPr lvl="0">
              <a:buClr>
                <a:srgbClr val="000000"/>
              </a:buClr>
            </a:pPr>
            <a:r>
              <a:rPr lang="en-US" sz="2000" kern="0" dirty="0">
                <a:solidFill>
                  <a:srgbClr val="000000"/>
                </a:solidFill>
                <a:latin typeface="Arial" panose="020B0604020202020204"/>
                <a:cs typeface="Arial" panose="020B0604020202020204"/>
                <a:sym typeface="Arial" panose="020B0604020202020204"/>
              </a:rPr>
              <a:t>2. </a:t>
            </a:r>
            <a:r>
              <a:rPr lang="en-GB" sz="2000" kern="0" dirty="0">
                <a:solidFill>
                  <a:srgbClr val="000000"/>
                </a:solidFill>
                <a:latin typeface="Arial" panose="020B0604020202020204"/>
                <a:cs typeface="Arial" panose="020B0604020202020204"/>
                <a:sym typeface="Arial" panose="020B0604020202020204"/>
              </a:rPr>
              <a:t>Demonstrate understanding of the Curriculum Designs of each subject both the DSTE curriculum (for teacher trainees) and that of the learners at Pre-primary-Grade 1-6 </a:t>
            </a:r>
          </a:p>
          <a:p>
            <a:pPr lvl="0">
              <a:buClr>
                <a:srgbClr val="000000"/>
              </a:buClr>
            </a:pPr>
            <a:r>
              <a:rPr lang="en-GB" sz="2000" kern="0" dirty="0">
                <a:solidFill>
                  <a:srgbClr val="000000"/>
                </a:solidFill>
                <a:latin typeface="Arial" panose="020B0604020202020204"/>
                <a:cs typeface="Arial" panose="020B0604020202020204"/>
                <a:sym typeface="Arial" panose="020B0604020202020204"/>
              </a:rPr>
              <a:t>3. Bringing out salient issues within the cluster learning areas.</a:t>
            </a:r>
          </a:p>
          <a:p>
            <a:pPr lvl="0">
              <a:buClr>
                <a:srgbClr val="000000"/>
              </a:buClr>
            </a:pPr>
            <a:r>
              <a:rPr lang="en-GB" sz="2000" kern="0" dirty="0">
                <a:solidFill>
                  <a:srgbClr val="000000"/>
                </a:solidFill>
                <a:latin typeface="Arial" panose="020B0604020202020204"/>
                <a:cs typeface="Arial" panose="020B0604020202020204"/>
                <a:sym typeface="Arial" panose="020B0604020202020204"/>
              </a:rPr>
              <a:t>4. Identify a strand and sub-strand in the learning areas and:</a:t>
            </a:r>
          </a:p>
          <a:p>
            <a:pPr marL="514350" lvl="0" indent="-514350">
              <a:buClr>
                <a:srgbClr val="000000"/>
              </a:buClr>
              <a:buFont typeface="Arial" panose="020B0604020202020204"/>
              <a:buAutoNum type="alphaUcParenR"/>
            </a:pPr>
            <a:r>
              <a:rPr lang="en-GB" sz="2000" kern="0" dirty="0">
                <a:solidFill>
                  <a:srgbClr val="000000"/>
                </a:solidFill>
                <a:latin typeface="Arial" panose="020B0604020202020204"/>
                <a:cs typeface="Arial" panose="020B0604020202020204"/>
                <a:sym typeface="Arial" panose="020B0604020202020204"/>
              </a:rPr>
              <a:t>Prepare a Scheme</a:t>
            </a:r>
          </a:p>
          <a:p>
            <a:pPr marL="514350" lvl="0" indent="-514350">
              <a:buClr>
                <a:srgbClr val="000000"/>
              </a:buClr>
              <a:buFont typeface="Arial" panose="020B0604020202020204"/>
              <a:buAutoNum type="alphaUcParenR"/>
            </a:pPr>
            <a:r>
              <a:rPr lang="en-GB" sz="2000" kern="0" dirty="0">
                <a:solidFill>
                  <a:srgbClr val="000000"/>
                </a:solidFill>
                <a:latin typeface="Arial" panose="020B0604020202020204"/>
                <a:cs typeface="Arial" panose="020B0604020202020204"/>
                <a:sym typeface="Arial" panose="020B0604020202020204"/>
              </a:rPr>
              <a:t>Lesson Plan</a:t>
            </a:r>
          </a:p>
          <a:p>
            <a:pPr marL="514350" lvl="0" indent="-514350">
              <a:buClr>
                <a:srgbClr val="000000"/>
              </a:buClr>
              <a:buFont typeface="Arial" panose="020B0604020202020204"/>
              <a:buAutoNum type="alphaUcParenR"/>
            </a:pPr>
            <a:r>
              <a:rPr lang="en-GB" sz="2000" kern="0" dirty="0">
                <a:solidFill>
                  <a:srgbClr val="000000"/>
                </a:solidFill>
                <a:latin typeface="Arial" panose="020B0604020202020204"/>
                <a:cs typeface="Arial" panose="020B0604020202020204"/>
                <a:sym typeface="Arial" panose="020B0604020202020204"/>
              </a:rPr>
              <a:t>Record of Work</a:t>
            </a:r>
          </a:p>
          <a:p>
            <a:pPr lvl="0">
              <a:buClr>
                <a:srgbClr val="000000"/>
              </a:buClr>
            </a:pPr>
            <a:r>
              <a:rPr lang="en-GB" sz="2000" kern="0" dirty="0">
                <a:solidFill>
                  <a:srgbClr val="000000"/>
                </a:solidFill>
                <a:latin typeface="Arial" panose="020B0604020202020204"/>
                <a:cs typeface="Arial" panose="020B0604020202020204"/>
                <a:sym typeface="Arial" panose="020B0604020202020204"/>
              </a:rPr>
              <a:t>4. Prepare learning resources and model a micro lesson. Use provided checklist to assess the lessons.</a:t>
            </a:r>
          </a:p>
          <a:p>
            <a:pPr lvl="0">
              <a:buClr>
                <a:srgbClr val="000000"/>
              </a:buClr>
            </a:pPr>
            <a:r>
              <a:rPr lang="en-GB" sz="2000" kern="0" dirty="0">
                <a:solidFill>
                  <a:srgbClr val="000000"/>
                </a:solidFill>
                <a:latin typeface="Arial" panose="020B0604020202020204"/>
                <a:cs typeface="Arial" panose="020B0604020202020204"/>
                <a:sym typeface="Arial" panose="020B0604020202020204"/>
              </a:rPr>
              <a:t>5. Critique the lessons by providing feedback. </a:t>
            </a:r>
          </a:p>
          <a:p>
            <a:pPr lvl="0">
              <a:buClr>
                <a:srgbClr val="000000"/>
              </a:buClr>
            </a:pPr>
            <a:r>
              <a:rPr lang="en-GB" sz="2000" kern="0" dirty="0">
                <a:solidFill>
                  <a:srgbClr val="000000"/>
                </a:solidFill>
                <a:latin typeface="Arial" panose="020B0604020202020204"/>
                <a:cs typeface="Arial" panose="020B0604020202020204"/>
                <a:sym typeface="Arial" panose="020B0604020202020204"/>
              </a:rPr>
              <a:t>6. Re-plan and re-teach, and provide feedback to better the micro-lessons and master  various micro teaching skills</a:t>
            </a:r>
          </a:p>
        </p:txBody>
      </p:sp>
    </p:spTree>
    <p:extLst>
      <p:ext uri="{BB962C8B-B14F-4D97-AF65-F5344CB8AC3E}">
        <p14:creationId xmlns:p14="http://schemas.microsoft.com/office/powerpoint/2010/main" val="144590675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siness Thank-You Letter Exampl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6727" y="1693268"/>
            <a:ext cx="5345714" cy="33252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theme/theme1.xml><?xml version="1.0" encoding="utf-8"?>
<a:theme xmlns:a="http://schemas.openxmlformats.org/drawingml/2006/main" name="KICD Brand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1578</TotalTime>
  <Words>2274</Words>
  <Application>Microsoft Office PowerPoint</Application>
  <PresentationFormat>Widescreen</PresentationFormat>
  <Paragraphs>325</Paragraphs>
  <Slides>27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Calibri</vt:lpstr>
      <vt:lpstr>Cambria</vt:lpstr>
      <vt:lpstr>D-DINExp</vt:lpstr>
      <vt:lpstr>Maiandra GD</vt:lpstr>
      <vt:lpstr>Symbol</vt:lpstr>
      <vt:lpstr>Times New Roman</vt:lpstr>
      <vt:lpstr>KICD Branding</vt:lpstr>
      <vt:lpstr>   PROFESSIONAL DOCUMENTS  </vt:lpstr>
      <vt:lpstr>Learning Outcomes</vt:lpstr>
      <vt:lpstr>PowerPoint Presentation</vt:lpstr>
      <vt:lpstr>Schemes of Work</vt:lpstr>
      <vt:lpstr>Schemes of Work</vt:lpstr>
      <vt:lpstr>Schemes of Work</vt:lpstr>
      <vt:lpstr>PILLARS OF TEACHERS’ PROFESSIONAL DOCUMENTS</vt:lpstr>
      <vt:lpstr>PowerPoint Presentation</vt:lpstr>
      <vt:lpstr>MULTIPLE INTELLIGENCES</vt:lpstr>
      <vt:lpstr>PowerPoint Presentation</vt:lpstr>
      <vt:lpstr>PowerPoint Presentation</vt:lpstr>
      <vt:lpstr>PowerPoint Presentation</vt:lpstr>
      <vt:lpstr>Activity 3 </vt:lpstr>
      <vt:lpstr>PowerPoint Presentation</vt:lpstr>
      <vt:lpstr>Lesson Plan</vt:lpstr>
      <vt:lpstr>PowerPoint Presentation</vt:lpstr>
      <vt:lpstr>PowerPoint Presentation</vt:lpstr>
      <vt:lpstr>PowerPoint Presentation</vt:lpstr>
      <vt:lpstr>PowerPoint Presentation</vt:lpstr>
      <vt:lpstr>Activity 5</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ARTS  Grade 7  Curriculum Design</dc:title>
  <dc:creator>jennifer wambugu</dc:creator>
  <cp:lastModifiedBy>joan kamau</cp:lastModifiedBy>
  <cp:revision>280</cp:revision>
  <dcterms:created xsi:type="dcterms:W3CDTF">2021-08-30T08:21:00Z</dcterms:created>
  <dcterms:modified xsi:type="dcterms:W3CDTF">2025-08-03T18:36:19Z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7846F8689D6E4846886A0966B22DA696_13</vt:lpwstr>
  </property>
  <property fmtid="{D5CDD505-2E9C-101B-9397-08002B2CF9AE}" pid="3" name="KSOProductBuildVer">
    <vt:lpwstr>1033-12.2.0.13306</vt:lpwstr>
  </property>
</Properties>
</file>